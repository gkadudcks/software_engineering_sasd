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8" autoAdjust="0"/>
    <p:restoredTop sz="95216" autoAdjust="0"/>
  </p:normalViewPr>
  <p:slideViewPr>
    <p:cSldViewPr snapToGrid="0">
      <p:cViewPr varScale="1">
        <p:scale>
          <a:sx n="103" d="100"/>
          <a:sy n="103" d="100"/>
        </p:scale>
        <p:origin x="1038" y="102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F0FA63FB-938B-4B98-898B-8BB88CCF7CB8}" type="datetime1">
              <a:rPr lang="ko-KR" altLang="en-US"/>
              <a:pPr lvl="0">
                <a:defRPr/>
              </a:pPr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4F4DC1D-AC74-4D1B-BC53-CC19DBB80AD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4F4DC1D-AC74-4D1B-BC53-CC19DBB80AD4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D7247-46C3-B907-2296-F3E909A2C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D64313-4E68-C139-2552-E4CD98BD2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6578E-5ADA-AF5D-8FF3-59E1CD3DA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06AADE-42E9-C6D8-801C-13BDF6005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F6EF19-BF58-9B25-DF9A-537986CC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342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55E33-AB1D-2213-2500-39A93C90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E220B1-0431-7426-3ED6-EFF48D8E3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8754E0-D343-BB59-ED0A-741F15AF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3A60DD-B354-FE45-268B-D9C890A2D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D48C5-CBC8-9163-5971-3D861F7F5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0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1D8AF-22B9-5056-0CBF-48B143C0E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79FCF7-3849-DC97-D7FA-606F80973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8CD95C-E905-424F-5286-BD45686F9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A2B200-8AF5-504E-5BA2-8DD935FC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9EB7AF-6212-D759-2164-682CD139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93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16B82-1707-78DF-4D36-BF394B89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1783F-2085-7D64-CC01-85F65A17B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254D4D-1645-DD9A-AEC4-258DEA610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5144D3-87A2-351B-0E4D-2AD6FBF69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8730DA-F7DB-466F-ECF5-1DE02D25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550299-6B3B-F193-51FD-74DAC5F3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28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DA94A-230C-F812-4665-BD640BED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087EFF-9BDE-88C6-CABA-6273D9A44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87AE9E-A00C-A708-D3FA-76DA3E819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188866-6601-BD41-E0A8-1D25E164F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01BFB9-D69A-736B-041F-F0581D6C93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722BA9-98E1-69B2-52C6-3ED055A2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A14831-A772-7578-BB1C-F8FB2E07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6B446F-15FD-2644-3F58-8E193B1F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437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B063A-0D5A-5074-08D4-6DEF01B0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8F15DB-2F9E-8753-F882-4180A2ACB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2D089A-F74C-B528-033E-B4C3BC465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C423D8-AC23-4CDD-F966-E31540D2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562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56F5FC-49E7-3114-023A-EFF317CEA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0AA93E-9FF6-73F6-8342-FE12FAAF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D73A0D-464C-2C62-426E-7BEE68DE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36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F3ACF-EAB5-0D18-7A04-7DEEBB708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7223AE-4E94-8957-21D7-4AC382594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8139AC-0496-A87F-34C6-731C7321B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DB388F-AC81-91F1-13A1-4E7DCF94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EE79BD-583A-2BF7-BB6F-B3E4EC1B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22550F-CAAA-C8DF-B275-0E658D414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27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1CBDD-9ECD-1D55-6926-94A14C91E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B9F579-501E-1070-0062-02D5C42C1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379402-4E7F-269F-FDFC-A3AA0B667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38CC9C-8F7D-00D7-6A59-372CAF281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1096DE-0EA6-CE6D-763C-880EC50F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9AEDB4-94EB-B205-41AF-4A75A257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365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46809-1354-767B-9C8D-9A7A269E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FC6F92-19A4-42F4-39E5-435F020C9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D516A-A97A-E3EE-1880-A8C957055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B1C5E6-2D17-5E07-0BC4-144F55C0F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DD0AE-05E8-AA1C-840A-AB1F1AE4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45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81DBC8-3A91-F355-3D2E-689527365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542C18-EA00-2547-98EF-5B1184D7E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65489-AB7B-5731-E0C3-03C9E6F5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C983E7-5D4B-FC4C-6040-EE3F9EEF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A39BF6-B050-7CBD-F448-46A56264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BC0F3E-4111-6828-C5E0-6EC81DB0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33E6A8-BB35-851E-C427-99F5D6FFD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2CECD-9A6A-5E78-2B67-D7407AE7D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A9700-659D-4BAE-A89D-5A4E9F48551C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33BDA9-9BED-C1EB-B7F7-AD5A65C97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CFC157-F1E8-6083-7895-A497C036E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92CFC-6E6C-4F3B-B28A-2E19032DEB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49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256032"/>
            <a:ext cx="410337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ptos"/>
              </a:defRPr>
            </a:pPr>
            <a:r>
              <a:rPr lang="en-US" altLang="ko-KR"/>
              <a:t>System Context Diagram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42241C-2025-186E-0090-3EBC28762ABA}"/>
              </a:ext>
            </a:extLst>
          </p:cNvPr>
          <p:cNvSpPr/>
          <p:nvPr/>
        </p:nvSpPr>
        <p:spPr>
          <a:xfrm>
            <a:off x="2761667" y="2084717"/>
            <a:ext cx="1565275" cy="436978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Front Sensor</a:t>
            </a:r>
            <a:endParaRPr lang="ko-KR" altLang="en-US" sz="6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1FFD7F-8077-0F52-A93A-831DAC7F4B20}"/>
              </a:ext>
            </a:extLst>
          </p:cNvPr>
          <p:cNvSpPr/>
          <p:nvPr/>
        </p:nvSpPr>
        <p:spPr>
          <a:xfrm>
            <a:off x="2761667" y="2800813"/>
            <a:ext cx="1565275" cy="436978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Left Sensor</a:t>
            </a:r>
            <a:endParaRPr lang="ko-KR" altLang="en-US" sz="6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E78085-076D-F938-9774-36B12288BF39}"/>
              </a:ext>
            </a:extLst>
          </p:cNvPr>
          <p:cNvSpPr/>
          <p:nvPr/>
        </p:nvSpPr>
        <p:spPr>
          <a:xfrm>
            <a:off x="2761668" y="3454914"/>
            <a:ext cx="1573466" cy="36600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Right Sensor</a:t>
            </a:r>
            <a:endParaRPr lang="ko-KR" altLang="en-US" sz="6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19C54D-A46D-33A7-0C73-43E225EDE3AE}"/>
              </a:ext>
            </a:extLst>
          </p:cNvPr>
          <p:cNvSpPr/>
          <p:nvPr/>
        </p:nvSpPr>
        <p:spPr>
          <a:xfrm>
            <a:off x="2761667" y="4097109"/>
            <a:ext cx="1573467" cy="36600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Dust Sensor</a:t>
            </a:r>
            <a:endParaRPr lang="ko-KR" altLang="en-US" sz="600"/>
          </a:p>
        </p:txBody>
      </p:sp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00C0DD1E-4CF3-FE5B-AF14-7128BEAE8B1B}"/>
              </a:ext>
            </a:extLst>
          </p:cNvPr>
          <p:cNvSpPr/>
          <p:nvPr/>
        </p:nvSpPr>
        <p:spPr>
          <a:xfrm>
            <a:off x="5807365" y="2744277"/>
            <a:ext cx="1061522" cy="98702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526"/>
              <a:t>RVC Control 0</a:t>
            </a:r>
            <a:endParaRPr lang="ko-KR" altLang="en-US" sz="8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EE59D5-9CA5-93AF-2415-F15319A6AE24}"/>
              </a:ext>
            </a:extLst>
          </p:cNvPr>
          <p:cNvSpPr/>
          <p:nvPr/>
        </p:nvSpPr>
        <p:spPr>
          <a:xfrm>
            <a:off x="5856127" y="4714194"/>
            <a:ext cx="963997" cy="385038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Digital Clock</a:t>
            </a:r>
            <a:endParaRPr lang="ko-KR" altLang="en-US" sz="6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9B98B2-4796-D421-2AEF-B72E107E4E76}"/>
              </a:ext>
            </a:extLst>
          </p:cNvPr>
          <p:cNvSpPr/>
          <p:nvPr/>
        </p:nvSpPr>
        <p:spPr>
          <a:xfrm>
            <a:off x="7563805" y="2100603"/>
            <a:ext cx="1094033" cy="436977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Motor</a:t>
            </a:r>
            <a:endParaRPr lang="ko-KR" altLang="en-US" sz="6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E3FF58-DB36-F367-3C40-BADBFB0D2830}"/>
              </a:ext>
            </a:extLst>
          </p:cNvPr>
          <p:cNvSpPr/>
          <p:nvPr/>
        </p:nvSpPr>
        <p:spPr>
          <a:xfrm>
            <a:off x="7621863" y="4182809"/>
            <a:ext cx="1094033" cy="436977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Cleaner</a:t>
            </a:r>
            <a:endParaRPr lang="ko-KR" altLang="en-US" sz="60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38D2CFB-D939-6B64-5B2F-405E2A848E2A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4326942" y="2303206"/>
            <a:ext cx="1635879" cy="585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F26F080-618D-378D-B107-36C00FF6F5AB}"/>
              </a:ext>
            </a:extLst>
          </p:cNvPr>
          <p:cNvCxnSpPr>
            <a:cxnSpLocks/>
            <a:stCxn id="3" idx="3"/>
            <a:endCxn id="10" idx="2"/>
          </p:cNvCxnSpPr>
          <p:nvPr/>
        </p:nvCxnSpPr>
        <p:spPr>
          <a:xfrm>
            <a:off x="4326942" y="3019302"/>
            <a:ext cx="1480423" cy="218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70F449C-3B20-7600-CAE4-0D0B2B321C5F}"/>
              </a:ext>
            </a:extLst>
          </p:cNvPr>
          <p:cNvCxnSpPr>
            <a:cxnSpLocks/>
            <a:stCxn id="4" idx="3"/>
            <a:endCxn id="10" idx="2"/>
          </p:cNvCxnSpPr>
          <p:nvPr/>
        </p:nvCxnSpPr>
        <p:spPr>
          <a:xfrm flipV="1">
            <a:off x="4335134" y="3237791"/>
            <a:ext cx="1472231" cy="400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65B1A15-6597-97AD-1308-5B8A50D6B8AB}"/>
              </a:ext>
            </a:extLst>
          </p:cNvPr>
          <p:cNvCxnSpPr>
            <a:cxnSpLocks/>
            <a:stCxn id="7" idx="3"/>
            <a:endCxn id="10" idx="3"/>
          </p:cNvCxnSpPr>
          <p:nvPr/>
        </p:nvCxnSpPr>
        <p:spPr>
          <a:xfrm flipV="1">
            <a:off x="4335134" y="3586758"/>
            <a:ext cx="1627687" cy="693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AF28681-EB56-81DF-BC12-5BFA753D863A}"/>
              </a:ext>
            </a:extLst>
          </p:cNvPr>
          <p:cNvCxnSpPr>
            <a:cxnSpLocks/>
            <a:stCxn id="12" idx="0"/>
            <a:endCxn id="10" idx="4"/>
          </p:cNvCxnSpPr>
          <p:nvPr/>
        </p:nvCxnSpPr>
        <p:spPr>
          <a:xfrm flipV="1">
            <a:off x="6338126" y="3731305"/>
            <a:ext cx="0" cy="98288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24C31EC-01FA-1B12-6C0E-19A9A2224334}"/>
              </a:ext>
            </a:extLst>
          </p:cNvPr>
          <p:cNvCxnSpPr>
            <a:cxnSpLocks/>
            <a:stCxn id="10" idx="5"/>
            <a:endCxn id="16" idx="1"/>
          </p:cNvCxnSpPr>
          <p:nvPr/>
        </p:nvCxnSpPr>
        <p:spPr>
          <a:xfrm>
            <a:off x="6713431" y="3586758"/>
            <a:ext cx="908432" cy="814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C2F187E-F0E4-898E-47ED-3F9FF9F065A4}"/>
              </a:ext>
            </a:extLst>
          </p:cNvPr>
          <p:cNvCxnSpPr>
            <a:cxnSpLocks/>
            <a:stCxn id="10" idx="7"/>
            <a:endCxn id="14" idx="1"/>
          </p:cNvCxnSpPr>
          <p:nvPr/>
        </p:nvCxnSpPr>
        <p:spPr>
          <a:xfrm flipV="1">
            <a:off x="6713431" y="2319092"/>
            <a:ext cx="850374" cy="56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A4736B8-67E8-62DA-EB0A-80498DCE695F}"/>
              </a:ext>
            </a:extLst>
          </p:cNvPr>
          <p:cNvSpPr txBox="1"/>
          <p:nvPr/>
        </p:nvSpPr>
        <p:spPr>
          <a:xfrm>
            <a:off x="4990404" y="2472650"/>
            <a:ext cx="900741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600" b="1" dirty="0"/>
              <a:t>Front Sensor Input</a:t>
            </a:r>
            <a:endParaRPr lang="ko-KR" altLang="en-US" sz="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167CED-0988-9FCD-990D-7BA7E86057EE}"/>
              </a:ext>
            </a:extLst>
          </p:cNvPr>
          <p:cNvSpPr txBox="1"/>
          <p:nvPr/>
        </p:nvSpPr>
        <p:spPr>
          <a:xfrm>
            <a:off x="4506095" y="2943881"/>
            <a:ext cx="112211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600" b="1" dirty="0"/>
              <a:t>Left Sensor Input</a:t>
            </a:r>
            <a:endParaRPr lang="ko-KR" altLang="en-US" sz="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515802-CA8A-EB75-379D-F5225EA40065}"/>
              </a:ext>
            </a:extLst>
          </p:cNvPr>
          <p:cNvSpPr txBox="1"/>
          <p:nvPr/>
        </p:nvSpPr>
        <p:spPr>
          <a:xfrm>
            <a:off x="4422725" y="3266570"/>
            <a:ext cx="886339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600" b="1" dirty="0"/>
              <a:t>Right Sensor Input</a:t>
            </a:r>
            <a:endParaRPr lang="ko-KR" altLang="en-US" sz="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3A6533-9C46-BFB4-716D-1E7A21044870}"/>
              </a:ext>
            </a:extLst>
          </p:cNvPr>
          <p:cNvSpPr txBox="1"/>
          <p:nvPr/>
        </p:nvSpPr>
        <p:spPr>
          <a:xfrm>
            <a:off x="4552355" y="3769760"/>
            <a:ext cx="957545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600" b="1" dirty="0"/>
              <a:t>Dust Sensor Input</a:t>
            </a:r>
            <a:endParaRPr lang="ko-KR" altLang="en-US" sz="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148ACC-0CEF-B087-2233-9C969E7BDBC9}"/>
              </a:ext>
            </a:extLst>
          </p:cNvPr>
          <p:cNvSpPr txBox="1"/>
          <p:nvPr/>
        </p:nvSpPr>
        <p:spPr>
          <a:xfrm>
            <a:off x="6005882" y="4390187"/>
            <a:ext cx="37010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600" b="1" dirty="0"/>
              <a:t>Tick</a:t>
            </a:r>
            <a:endParaRPr lang="ko-KR" altLang="en-US" sz="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5F59FB-3873-6BD5-11A6-559C2EFC15AB}"/>
              </a:ext>
            </a:extLst>
          </p:cNvPr>
          <p:cNvSpPr txBox="1"/>
          <p:nvPr/>
        </p:nvSpPr>
        <p:spPr>
          <a:xfrm>
            <a:off x="7238824" y="3909366"/>
            <a:ext cx="48384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600" b="1"/>
              <a:t>Clean</a:t>
            </a:r>
            <a:endParaRPr lang="ko-KR" altLang="en-US" sz="6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067073-8B24-88CE-BBF7-11AD02A1073C}"/>
              </a:ext>
            </a:extLst>
          </p:cNvPr>
          <p:cNvSpPr txBox="1"/>
          <p:nvPr/>
        </p:nvSpPr>
        <p:spPr>
          <a:xfrm>
            <a:off x="6641755" y="2398307"/>
            <a:ext cx="648013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600" b="1" dirty="0"/>
              <a:t>Direction</a:t>
            </a:r>
            <a:endParaRPr lang="ko-KR" altLang="en-US" sz="6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Box 2"/>
          <p:cNvSpPr txBox="1"/>
          <p:nvPr/>
        </p:nvSpPr>
        <p:spPr>
          <a:xfrm>
            <a:off x="212253" y="3058966"/>
            <a:ext cx="1374612" cy="35860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DFD level 3</a:t>
            </a:r>
            <a:endParaRPr lang="ko-KR" altLang="en-US"/>
          </a:p>
        </p:txBody>
      </p:sp>
      <p:sp>
        <p:nvSpPr>
          <p:cNvPr id="316" name="순서도: 연결자 315"/>
          <p:cNvSpPr/>
          <p:nvPr/>
        </p:nvSpPr>
        <p:spPr>
          <a:xfrm>
            <a:off x="1633822" y="4810699"/>
            <a:ext cx="761610" cy="708163"/>
          </a:xfrm>
          <a:prstGeom prst="flowChartConnector">
            <a:avLst/>
          </a:prstGeom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600">
                <a:latin typeface="+mn-ea"/>
              </a:rPr>
              <a:t>Controller</a:t>
            </a:r>
          </a:p>
          <a:p>
            <a:pPr algn="ctr">
              <a:defRPr/>
            </a:pPr>
            <a:r>
              <a:rPr lang="en-US" altLang="ko-KR" sz="658">
                <a:latin typeface="+mn-ea"/>
              </a:rPr>
              <a:t>2.1.1</a:t>
            </a:r>
            <a:endParaRPr lang="ko-KR" altLang="en-US" sz="1000">
              <a:latin typeface="+mn-ea"/>
            </a:endParaRPr>
          </a:p>
        </p:txBody>
      </p:sp>
      <p:sp>
        <p:nvSpPr>
          <p:cNvPr id="317" name="순서도: 연결자 316"/>
          <p:cNvSpPr/>
          <p:nvPr/>
        </p:nvSpPr>
        <p:spPr>
          <a:xfrm>
            <a:off x="3177017" y="3620897"/>
            <a:ext cx="543924" cy="50575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61"/>
              <a:t>Move</a:t>
            </a:r>
          </a:p>
          <a:p>
            <a:pPr algn="ctr">
              <a:defRPr/>
            </a:pPr>
            <a:r>
              <a:rPr lang="en-US" altLang="ko-KR" sz="461"/>
              <a:t>Forward</a:t>
            </a:r>
          </a:p>
          <a:p>
            <a:pPr algn="ctr">
              <a:defRPr/>
            </a:pPr>
            <a:r>
              <a:rPr lang="en-US" altLang="ko-KR" sz="461"/>
              <a:t>2.1.2</a:t>
            </a:r>
            <a:endParaRPr lang="ko-KR" altLang="en-US" sz="700"/>
          </a:p>
        </p:txBody>
      </p:sp>
      <p:sp>
        <p:nvSpPr>
          <p:cNvPr id="318" name="순서도: 연결자 317"/>
          <p:cNvSpPr/>
          <p:nvPr/>
        </p:nvSpPr>
        <p:spPr>
          <a:xfrm>
            <a:off x="3182306" y="4364777"/>
            <a:ext cx="543924" cy="50575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61"/>
              <a:t>Turn</a:t>
            </a:r>
          </a:p>
          <a:p>
            <a:pPr algn="ctr">
              <a:defRPr/>
            </a:pPr>
            <a:r>
              <a:rPr lang="en-US" altLang="ko-KR" sz="461"/>
              <a:t>Left</a:t>
            </a:r>
          </a:p>
          <a:p>
            <a:pPr algn="ctr">
              <a:defRPr/>
            </a:pPr>
            <a:r>
              <a:rPr lang="en-US" altLang="ko-KR" sz="461"/>
              <a:t>2.1.3</a:t>
            </a:r>
            <a:endParaRPr lang="ko-KR" altLang="en-US" sz="700"/>
          </a:p>
        </p:txBody>
      </p:sp>
      <p:sp>
        <p:nvSpPr>
          <p:cNvPr id="319" name="순서도: 연결자 318"/>
          <p:cNvSpPr/>
          <p:nvPr/>
        </p:nvSpPr>
        <p:spPr>
          <a:xfrm>
            <a:off x="3191209" y="5056814"/>
            <a:ext cx="543924" cy="50575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61"/>
              <a:t>Turn</a:t>
            </a:r>
          </a:p>
          <a:p>
            <a:pPr algn="ctr">
              <a:defRPr/>
            </a:pPr>
            <a:r>
              <a:rPr lang="en-US" altLang="ko-KR" sz="461"/>
              <a:t>Right</a:t>
            </a:r>
          </a:p>
          <a:p>
            <a:pPr algn="ctr">
              <a:defRPr/>
            </a:pPr>
            <a:r>
              <a:rPr lang="en-US" altLang="ko-KR" sz="461"/>
              <a:t>2.1.4</a:t>
            </a:r>
            <a:endParaRPr lang="ko-KR" altLang="en-US" sz="700"/>
          </a:p>
        </p:txBody>
      </p:sp>
      <p:sp>
        <p:nvSpPr>
          <p:cNvPr id="320" name="순서도: 연결자 319"/>
          <p:cNvSpPr/>
          <p:nvPr/>
        </p:nvSpPr>
        <p:spPr>
          <a:xfrm>
            <a:off x="3191209" y="5730246"/>
            <a:ext cx="543924" cy="50575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61"/>
              <a:t>Move</a:t>
            </a:r>
          </a:p>
          <a:p>
            <a:pPr algn="ctr">
              <a:defRPr/>
            </a:pPr>
            <a:r>
              <a:rPr lang="en-US" altLang="ko-KR" sz="461"/>
              <a:t>Backward</a:t>
            </a:r>
          </a:p>
          <a:p>
            <a:pPr algn="ctr">
              <a:defRPr/>
            </a:pPr>
            <a:r>
              <a:rPr lang="en-US" altLang="ko-KR" sz="461"/>
              <a:t>2.1.5</a:t>
            </a:r>
            <a:endParaRPr lang="ko-KR" altLang="en-US" sz="700"/>
          </a:p>
        </p:txBody>
      </p:sp>
      <p:sp>
        <p:nvSpPr>
          <p:cNvPr id="321" name="순서도: 연결자 320"/>
          <p:cNvSpPr/>
          <p:nvPr/>
        </p:nvSpPr>
        <p:spPr>
          <a:xfrm>
            <a:off x="4677942" y="4126414"/>
            <a:ext cx="962554" cy="89500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658"/>
              <a:t>Motor</a:t>
            </a:r>
          </a:p>
          <a:p>
            <a:pPr algn="ctr">
              <a:defRPr/>
            </a:pPr>
            <a:r>
              <a:rPr lang="en-US" altLang="ko-KR" sz="658"/>
              <a:t>Interface</a:t>
            </a:r>
          </a:p>
          <a:p>
            <a:pPr algn="ctr">
              <a:defRPr/>
            </a:pPr>
            <a:r>
              <a:rPr lang="en-US" altLang="ko-KR" sz="658"/>
              <a:t>2.2</a:t>
            </a:r>
            <a:endParaRPr lang="ko-KR" altLang="en-US" sz="1000"/>
          </a:p>
        </p:txBody>
      </p:sp>
      <p:sp>
        <p:nvSpPr>
          <p:cNvPr id="322" name="순서도: 연결자 321"/>
          <p:cNvSpPr/>
          <p:nvPr/>
        </p:nvSpPr>
        <p:spPr>
          <a:xfrm>
            <a:off x="4677942" y="5696843"/>
            <a:ext cx="962554" cy="89500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658"/>
              <a:t>Cleaner</a:t>
            </a:r>
          </a:p>
          <a:p>
            <a:pPr algn="ctr">
              <a:defRPr/>
            </a:pPr>
            <a:r>
              <a:rPr lang="en-US" altLang="ko-KR" sz="658"/>
              <a:t>Interface</a:t>
            </a:r>
          </a:p>
          <a:p>
            <a:pPr algn="ctr">
              <a:defRPr/>
            </a:pPr>
            <a:r>
              <a:rPr lang="en-US" altLang="ko-KR" sz="658"/>
              <a:t>2.3</a:t>
            </a:r>
            <a:endParaRPr lang="ko-KR" altLang="en-US" sz="1000"/>
          </a:p>
        </p:txBody>
      </p:sp>
      <p:cxnSp>
        <p:nvCxnSpPr>
          <p:cNvPr id="331" name="직선 화살표 연결선 330"/>
          <p:cNvCxnSpPr>
            <a:endCxn id="316" idx="0"/>
          </p:cNvCxnSpPr>
          <p:nvPr/>
        </p:nvCxnSpPr>
        <p:spPr>
          <a:xfrm>
            <a:off x="1819468" y="4347651"/>
            <a:ext cx="195159" cy="46304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직선 화살표 연결선 336"/>
          <p:cNvCxnSpPr>
            <a:stCxn id="317" idx="6"/>
            <a:endCxn id="321" idx="1"/>
          </p:cNvCxnSpPr>
          <p:nvPr/>
        </p:nvCxnSpPr>
        <p:spPr>
          <a:xfrm>
            <a:off x="3720941" y="3873774"/>
            <a:ext cx="1097964" cy="383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직선 화살표 연결선 337"/>
          <p:cNvCxnSpPr>
            <a:stCxn id="318" idx="6"/>
            <a:endCxn id="321" idx="2"/>
          </p:cNvCxnSpPr>
          <p:nvPr/>
        </p:nvCxnSpPr>
        <p:spPr>
          <a:xfrm flipV="1">
            <a:off x="3726230" y="4573917"/>
            <a:ext cx="951712" cy="43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직선 화살표 연결선 338"/>
          <p:cNvCxnSpPr>
            <a:stCxn id="319" idx="6"/>
            <a:endCxn id="321" idx="3"/>
          </p:cNvCxnSpPr>
          <p:nvPr/>
        </p:nvCxnSpPr>
        <p:spPr>
          <a:xfrm flipV="1">
            <a:off x="3735133" y="4890349"/>
            <a:ext cx="1083772" cy="419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직선 화살표 연결선 339"/>
          <p:cNvCxnSpPr>
            <a:stCxn id="321" idx="6"/>
          </p:cNvCxnSpPr>
          <p:nvPr/>
        </p:nvCxnSpPr>
        <p:spPr>
          <a:xfrm>
            <a:off x="5640497" y="4573917"/>
            <a:ext cx="23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직선 화살표 연결선 340"/>
          <p:cNvCxnSpPr>
            <a:stCxn id="322" idx="6"/>
          </p:cNvCxnSpPr>
          <p:nvPr/>
        </p:nvCxnSpPr>
        <p:spPr>
          <a:xfrm>
            <a:off x="5640496" y="6144346"/>
            <a:ext cx="3237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/>
          <p:cNvCxnSpPr/>
          <p:nvPr/>
        </p:nvCxnSpPr>
        <p:spPr>
          <a:xfrm>
            <a:off x="383379" y="4327957"/>
            <a:ext cx="3319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직선 연결선 355"/>
          <p:cNvCxnSpPr/>
          <p:nvPr/>
        </p:nvCxnSpPr>
        <p:spPr>
          <a:xfrm>
            <a:off x="383379" y="4531787"/>
            <a:ext cx="3319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직선 연결선 356"/>
          <p:cNvCxnSpPr/>
          <p:nvPr/>
        </p:nvCxnSpPr>
        <p:spPr>
          <a:xfrm>
            <a:off x="341653" y="5479672"/>
            <a:ext cx="3319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직선 연결선 357"/>
          <p:cNvCxnSpPr/>
          <p:nvPr/>
        </p:nvCxnSpPr>
        <p:spPr>
          <a:xfrm>
            <a:off x="342086" y="5654080"/>
            <a:ext cx="3319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직선 화살표 연결선 359"/>
          <p:cNvCxnSpPr>
            <a:endCxn id="316" idx="1"/>
          </p:cNvCxnSpPr>
          <p:nvPr/>
        </p:nvCxnSpPr>
        <p:spPr>
          <a:xfrm>
            <a:off x="772008" y="4454706"/>
            <a:ext cx="973349" cy="459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직선 화살표 연결선 361"/>
          <p:cNvCxnSpPr>
            <a:endCxn id="316" idx="3"/>
          </p:cNvCxnSpPr>
          <p:nvPr/>
        </p:nvCxnSpPr>
        <p:spPr>
          <a:xfrm flipV="1">
            <a:off x="712983" y="5415154"/>
            <a:ext cx="1032374" cy="14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직선 화살표 연결선 364"/>
          <p:cNvCxnSpPr>
            <a:stCxn id="320" idx="6"/>
            <a:endCxn id="321" idx="4"/>
          </p:cNvCxnSpPr>
          <p:nvPr/>
        </p:nvCxnSpPr>
        <p:spPr>
          <a:xfrm flipV="1">
            <a:off x="3735133" y="5021420"/>
            <a:ext cx="1424086" cy="961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순서도: 연결자 365"/>
          <p:cNvSpPr/>
          <p:nvPr/>
        </p:nvSpPr>
        <p:spPr>
          <a:xfrm>
            <a:off x="3154599" y="6300488"/>
            <a:ext cx="632453" cy="50575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61" b="0">
                <a:solidFill>
                  <a:srgbClr val="FFFFFF"/>
                </a:solidFill>
                <a:latin typeface="Aptos"/>
              </a:rPr>
              <a:t>Cleaner</a:t>
            </a:r>
          </a:p>
          <a:p>
            <a:pPr algn="ctr">
              <a:defRPr/>
            </a:pPr>
            <a:r>
              <a:rPr lang="en-US" sz="461" b="0">
                <a:solidFill>
                  <a:srgbClr val="FFFFFF"/>
                </a:solidFill>
                <a:latin typeface="Aptos"/>
              </a:rPr>
              <a:t>Controller</a:t>
            </a:r>
          </a:p>
          <a:p>
            <a:pPr algn="ctr">
              <a:defRPr/>
            </a:pPr>
            <a:r>
              <a:rPr sz="461" b="0">
                <a:solidFill>
                  <a:srgbClr val="FFFFFF"/>
                </a:solidFill>
                <a:latin typeface="Aptos"/>
              </a:rPr>
              <a:t>2.1.6</a:t>
            </a:r>
          </a:p>
        </p:txBody>
      </p:sp>
      <p:cxnSp>
        <p:nvCxnSpPr>
          <p:cNvPr id="369" name="직선 화살표 연결선 368"/>
          <p:cNvCxnSpPr>
            <a:stCxn id="366" idx="6"/>
            <a:endCxn id="322" idx="2"/>
          </p:cNvCxnSpPr>
          <p:nvPr/>
        </p:nvCxnSpPr>
        <p:spPr>
          <a:xfrm flipV="1">
            <a:off x="3787052" y="6144346"/>
            <a:ext cx="890890" cy="409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/>
          <p:cNvCxnSpPr/>
          <p:nvPr/>
        </p:nvCxnSpPr>
        <p:spPr>
          <a:xfrm>
            <a:off x="6947140" y="51758"/>
            <a:ext cx="57509" cy="6806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TextBox 2"/>
          <p:cNvSpPr txBox="1"/>
          <p:nvPr/>
        </p:nvSpPr>
        <p:spPr>
          <a:xfrm>
            <a:off x="7081755" y="151864"/>
            <a:ext cx="20939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DFD level 4 / FSM</a:t>
            </a:r>
            <a:endParaRPr lang="ko-KR" altLang="en-US"/>
          </a:p>
        </p:txBody>
      </p:sp>
      <p:cxnSp>
        <p:nvCxnSpPr>
          <p:cNvPr id="375" name="직선 연결선 374"/>
          <p:cNvCxnSpPr/>
          <p:nvPr/>
        </p:nvCxnSpPr>
        <p:spPr>
          <a:xfrm>
            <a:off x="0" y="3058966"/>
            <a:ext cx="70046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3978" y="41015"/>
            <a:ext cx="13902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DFD level 0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94943" y="596900"/>
            <a:ext cx="546407" cy="21824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Front Sensor</a:t>
            </a:r>
            <a:endParaRPr lang="ko-KR" altLang="en-US" sz="600"/>
          </a:p>
        </p:txBody>
      </p:sp>
      <p:sp>
        <p:nvSpPr>
          <p:cNvPr id="6" name="직사각형 5"/>
          <p:cNvSpPr/>
          <p:nvPr/>
        </p:nvSpPr>
        <p:spPr>
          <a:xfrm>
            <a:off x="94942" y="990523"/>
            <a:ext cx="546407" cy="21824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Left Sensor</a:t>
            </a:r>
            <a:endParaRPr lang="ko-KR" altLang="en-US" sz="600"/>
          </a:p>
        </p:txBody>
      </p:sp>
      <p:sp>
        <p:nvSpPr>
          <p:cNvPr id="8" name="직사각형 7"/>
          <p:cNvSpPr/>
          <p:nvPr/>
        </p:nvSpPr>
        <p:spPr>
          <a:xfrm>
            <a:off x="91656" y="1376684"/>
            <a:ext cx="546407" cy="21824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Right Sensor</a:t>
            </a:r>
            <a:endParaRPr lang="ko-KR" altLang="en-US" sz="600"/>
          </a:p>
        </p:txBody>
      </p:sp>
      <p:sp>
        <p:nvSpPr>
          <p:cNvPr id="10" name="직사각형 9"/>
          <p:cNvSpPr/>
          <p:nvPr/>
        </p:nvSpPr>
        <p:spPr>
          <a:xfrm>
            <a:off x="91655" y="1756423"/>
            <a:ext cx="546407" cy="21824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Dust Sensor</a:t>
            </a:r>
            <a:endParaRPr lang="ko-KR" altLang="en-US" sz="600"/>
          </a:p>
        </p:txBody>
      </p:sp>
      <p:sp>
        <p:nvSpPr>
          <p:cNvPr id="12" name="순서도: 연결자 11"/>
          <p:cNvSpPr/>
          <p:nvPr/>
        </p:nvSpPr>
        <p:spPr>
          <a:xfrm>
            <a:off x="919678" y="990800"/>
            <a:ext cx="547946" cy="50949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526"/>
              <a:t>RVC Control 0</a:t>
            </a:r>
            <a:endParaRPr lang="ko-KR" altLang="en-US" sz="800"/>
          </a:p>
        </p:txBody>
      </p:sp>
      <p:sp>
        <p:nvSpPr>
          <p:cNvPr id="14" name="직사각형 13"/>
          <p:cNvSpPr/>
          <p:nvPr/>
        </p:nvSpPr>
        <p:spPr>
          <a:xfrm>
            <a:off x="921217" y="2032614"/>
            <a:ext cx="546407" cy="21824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Digital Clock</a:t>
            </a:r>
            <a:endParaRPr lang="ko-KR" altLang="en-US" sz="600"/>
          </a:p>
        </p:txBody>
      </p:sp>
      <p:sp>
        <p:nvSpPr>
          <p:cNvPr id="16" name="직사각형 15"/>
          <p:cNvSpPr/>
          <p:nvPr/>
        </p:nvSpPr>
        <p:spPr>
          <a:xfrm>
            <a:off x="1609571" y="786570"/>
            <a:ext cx="546407" cy="21824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Motor</a:t>
            </a:r>
            <a:endParaRPr lang="ko-KR" altLang="en-US" sz="600"/>
          </a:p>
        </p:txBody>
      </p:sp>
      <p:sp>
        <p:nvSpPr>
          <p:cNvPr id="18" name="직사각형 17"/>
          <p:cNvSpPr/>
          <p:nvPr/>
        </p:nvSpPr>
        <p:spPr>
          <a:xfrm>
            <a:off x="1609572" y="1538178"/>
            <a:ext cx="546407" cy="21824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600"/>
              <a:t>Cleaner</a:t>
            </a:r>
            <a:endParaRPr lang="ko-KR" altLang="en-US" sz="600"/>
          </a:p>
        </p:txBody>
      </p:sp>
      <p:cxnSp>
        <p:nvCxnSpPr>
          <p:cNvPr id="20" name="직선 화살표 연결선 19"/>
          <p:cNvCxnSpPr>
            <a:stCxn id="4" idx="3"/>
            <a:endCxn id="12" idx="1"/>
          </p:cNvCxnSpPr>
          <p:nvPr/>
        </p:nvCxnSpPr>
        <p:spPr>
          <a:xfrm>
            <a:off x="641350" y="706023"/>
            <a:ext cx="358573" cy="359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6" idx="3"/>
            <a:endCxn id="12" idx="2"/>
          </p:cNvCxnSpPr>
          <p:nvPr/>
        </p:nvCxnSpPr>
        <p:spPr>
          <a:xfrm>
            <a:off x="641349" y="1099646"/>
            <a:ext cx="278329" cy="145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V="1">
            <a:off x="638063" y="1425977"/>
            <a:ext cx="361860" cy="60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10" idx="3"/>
            <a:endCxn id="12" idx="3"/>
          </p:cNvCxnSpPr>
          <p:nvPr/>
        </p:nvCxnSpPr>
        <p:spPr>
          <a:xfrm flipV="1">
            <a:off x="638062" y="1425679"/>
            <a:ext cx="361861" cy="439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4" idx="0"/>
            <a:endCxn id="12" idx="4"/>
          </p:cNvCxnSpPr>
          <p:nvPr/>
        </p:nvCxnSpPr>
        <p:spPr>
          <a:xfrm flipH="1" flipV="1">
            <a:off x="1193651" y="1500293"/>
            <a:ext cx="770" cy="532321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12" idx="5"/>
            <a:endCxn id="18" idx="1"/>
          </p:cNvCxnSpPr>
          <p:nvPr/>
        </p:nvCxnSpPr>
        <p:spPr>
          <a:xfrm>
            <a:off x="1387379" y="1425679"/>
            <a:ext cx="222193" cy="221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12" idx="7"/>
            <a:endCxn id="16" idx="1"/>
          </p:cNvCxnSpPr>
          <p:nvPr/>
        </p:nvCxnSpPr>
        <p:spPr>
          <a:xfrm flipV="1">
            <a:off x="1387379" y="895693"/>
            <a:ext cx="222192" cy="169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8062" y="647719"/>
            <a:ext cx="644003" cy="1409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Front Sensor Input</a:t>
            </a:r>
            <a:endParaRPr lang="ko-KR" altLang="en-US" sz="400" b="1"/>
          </a:p>
        </p:txBody>
      </p:sp>
      <p:sp>
        <p:nvSpPr>
          <p:cNvPr id="36" name="TextBox 35"/>
          <p:cNvSpPr txBox="1"/>
          <p:nvPr/>
        </p:nvSpPr>
        <p:spPr>
          <a:xfrm>
            <a:off x="553105" y="969136"/>
            <a:ext cx="46038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Left Sensor</a:t>
            </a:r>
          </a:p>
          <a:p>
            <a:pPr algn="ctr">
              <a:defRPr/>
            </a:pPr>
            <a:r>
              <a:rPr lang="en-US" altLang="ko-KR" sz="400" b="1"/>
              <a:t> Input</a:t>
            </a:r>
            <a:endParaRPr lang="ko-KR" altLang="en-US" sz="400" b="1"/>
          </a:p>
        </p:txBody>
      </p:sp>
      <p:sp>
        <p:nvSpPr>
          <p:cNvPr id="38" name="TextBox 37"/>
          <p:cNvSpPr txBox="1"/>
          <p:nvPr/>
        </p:nvSpPr>
        <p:spPr>
          <a:xfrm>
            <a:off x="530245" y="1281178"/>
            <a:ext cx="4972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Right Sensor</a:t>
            </a:r>
          </a:p>
          <a:p>
            <a:pPr algn="ctr">
              <a:defRPr/>
            </a:pPr>
            <a:r>
              <a:rPr lang="en-US" altLang="ko-KR" sz="400" b="1"/>
              <a:t> Input</a:t>
            </a:r>
            <a:endParaRPr lang="ko-KR" altLang="en-US" sz="400" b="1"/>
          </a:p>
        </p:txBody>
      </p:sp>
      <p:sp>
        <p:nvSpPr>
          <p:cNvPr id="46" name="TextBox 45"/>
          <p:cNvSpPr txBox="1"/>
          <p:nvPr/>
        </p:nvSpPr>
        <p:spPr>
          <a:xfrm>
            <a:off x="549364" y="1612571"/>
            <a:ext cx="47961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Dust Sensor</a:t>
            </a:r>
          </a:p>
          <a:p>
            <a:pPr algn="ctr">
              <a:defRPr/>
            </a:pPr>
            <a:r>
              <a:rPr lang="en-US" altLang="ko-KR" sz="400" b="1"/>
              <a:t>Input</a:t>
            </a:r>
            <a:endParaRPr lang="ko-KR" altLang="en-US" sz="400" b="1"/>
          </a:p>
        </p:txBody>
      </p:sp>
      <p:sp>
        <p:nvSpPr>
          <p:cNvPr id="54" name="TextBox 53"/>
          <p:cNvSpPr txBox="1"/>
          <p:nvPr/>
        </p:nvSpPr>
        <p:spPr>
          <a:xfrm>
            <a:off x="1134309" y="1780654"/>
            <a:ext cx="284052" cy="141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Tick</a:t>
            </a:r>
            <a:endParaRPr lang="ko-KR" altLang="en-US" sz="400" b="1"/>
          </a:p>
        </p:txBody>
      </p:sp>
      <p:sp>
        <p:nvSpPr>
          <p:cNvPr id="56" name="TextBox 55"/>
          <p:cNvSpPr txBox="1"/>
          <p:nvPr/>
        </p:nvSpPr>
        <p:spPr>
          <a:xfrm>
            <a:off x="1366659" y="1379097"/>
            <a:ext cx="324981" cy="142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Clean</a:t>
            </a:r>
            <a:endParaRPr lang="ko-KR" altLang="en-US" sz="400" b="1"/>
          </a:p>
        </p:txBody>
      </p:sp>
      <p:sp>
        <p:nvSpPr>
          <p:cNvPr id="58" name="TextBox 57"/>
          <p:cNvSpPr txBox="1"/>
          <p:nvPr/>
        </p:nvSpPr>
        <p:spPr>
          <a:xfrm>
            <a:off x="1215832" y="861424"/>
            <a:ext cx="409133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Direction</a:t>
            </a:r>
            <a:endParaRPr lang="ko-KR" altLang="en-US" sz="400" b="1"/>
          </a:p>
        </p:txBody>
      </p:sp>
      <p:cxnSp>
        <p:nvCxnSpPr>
          <p:cNvPr id="60" name="직선 연결선 59"/>
          <p:cNvCxnSpPr/>
          <p:nvPr/>
        </p:nvCxnSpPr>
        <p:spPr>
          <a:xfrm>
            <a:off x="2266950" y="0"/>
            <a:ext cx="0" cy="3058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215774" y="51758"/>
            <a:ext cx="13902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DFD level 1</a:t>
            </a:r>
            <a:endParaRPr lang="ko-KR" altLang="en-US"/>
          </a:p>
        </p:txBody>
      </p:sp>
      <p:sp>
        <p:nvSpPr>
          <p:cNvPr id="256" name="순서도: 연결자 255"/>
          <p:cNvSpPr/>
          <p:nvPr/>
        </p:nvSpPr>
        <p:spPr>
          <a:xfrm>
            <a:off x="2709316" y="1099645"/>
            <a:ext cx="547946" cy="50949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00"/>
              <a:t>Obstacle &amp; Dust Detection 1</a:t>
            </a:r>
            <a:endParaRPr lang="ko-KR" altLang="en-US" sz="700"/>
          </a:p>
        </p:txBody>
      </p:sp>
      <p:sp>
        <p:nvSpPr>
          <p:cNvPr id="258" name="순서도: 연결자 257"/>
          <p:cNvSpPr/>
          <p:nvPr/>
        </p:nvSpPr>
        <p:spPr>
          <a:xfrm>
            <a:off x="2724078" y="2130668"/>
            <a:ext cx="547946" cy="50949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00"/>
              <a:t>Cleaner &amp; Motor Control 2</a:t>
            </a:r>
            <a:endParaRPr lang="ko-KR" altLang="en-US" sz="700"/>
          </a:p>
        </p:txBody>
      </p:sp>
      <p:cxnSp>
        <p:nvCxnSpPr>
          <p:cNvPr id="260" name="직선 화살표 연결선 259"/>
          <p:cNvCxnSpPr>
            <a:endCxn id="256" idx="1"/>
          </p:cNvCxnSpPr>
          <p:nvPr/>
        </p:nvCxnSpPr>
        <p:spPr>
          <a:xfrm>
            <a:off x="2552700" y="815145"/>
            <a:ext cx="236861" cy="359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/>
          <p:cNvCxnSpPr>
            <a:endCxn id="256" idx="0"/>
          </p:cNvCxnSpPr>
          <p:nvPr/>
        </p:nvCxnSpPr>
        <p:spPr>
          <a:xfrm>
            <a:off x="2762250" y="647700"/>
            <a:ext cx="221039" cy="451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직선 화살표 연결선 264"/>
          <p:cNvCxnSpPr>
            <a:endCxn id="256" idx="0"/>
          </p:cNvCxnSpPr>
          <p:nvPr/>
        </p:nvCxnSpPr>
        <p:spPr>
          <a:xfrm flipH="1">
            <a:off x="2983289" y="614363"/>
            <a:ext cx="136101" cy="485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/>
          <p:cNvCxnSpPr>
            <a:endCxn id="256" idx="7"/>
          </p:cNvCxnSpPr>
          <p:nvPr/>
        </p:nvCxnSpPr>
        <p:spPr>
          <a:xfrm flipH="1">
            <a:off x="3177017" y="786570"/>
            <a:ext cx="176763" cy="387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직선 화살표 연결선 268"/>
          <p:cNvCxnSpPr>
            <a:endCxn id="256" idx="2"/>
          </p:cNvCxnSpPr>
          <p:nvPr/>
        </p:nvCxnSpPr>
        <p:spPr>
          <a:xfrm>
            <a:off x="2395538" y="1354392"/>
            <a:ext cx="313778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직선 화살표 연결선 271"/>
          <p:cNvCxnSpPr>
            <a:stCxn id="258" idx="3"/>
          </p:cNvCxnSpPr>
          <p:nvPr/>
        </p:nvCxnSpPr>
        <p:spPr>
          <a:xfrm flipH="1">
            <a:off x="2669856" y="2565547"/>
            <a:ext cx="134467" cy="291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직선 화살표 연결선 273"/>
          <p:cNvCxnSpPr>
            <a:stCxn id="258" idx="5"/>
          </p:cNvCxnSpPr>
          <p:nvPr/>
        </p:nvCxnSpPr>
        <p:spPr>
          <a:xfrm>
            <a:off x="3191779" y="2565547"/>
            <a:ext cx="121308" cy="277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/>
          <p:cNvSpPr txBox="1"/>
          <p:nvPr/>
        </p:nvSpPr>
        <p:spPr>
          <a:xfrm>
            <a:off x="3045439" y="895692"/>
            <a:ext cx="51488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Front Sensor </a:t>
            </a:r>
          </a:p>
          <a:p>
            <a:pPr algn="ctr">
              <a:defRPr/>
            </a:pPr>
            <a:r>
              <a:rPr lang="en-US" altLang="ko-KR" sz="400" b="1"/>
              <a:t>Input</a:t>
            </a:r>
            <a:endParaRPr lang="ko-KR" altLang="en-US" sz="400" b="1"/>
          </a:p>
        </p:txBody>
      </p:sp>
      <p:sp>
        <p:nvSpPr>
          <p:cNvPr id="278" name="TextBox 277"/>
          <p:cNvSpPr txBox="1"/>
          <p:nvPr/>
        </p:nvSpPr>
        <p:spPr>
          <a:xfrm>
            <a:off x="2846695" y="680248"/>
            <a:ext cx="46038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Left Sensor</a:t>
            </a:r>
          </a:p>
          <a:p>
            <a:pPr algn="ctr">
              <a:defRPr/>
            </a:pPr>
            <a:r>
              <a:rPr lang="en-US" altLang="ko-KR" sz="400" b="1"/>
              <a:t> Input</a:t>
            </a:r>
            <a:endParaRPr lang="ko-KR" altLang="en-US" sz="400" b="1"/>
          </a:p>
        </p:txBody>
      </p:sp>
      <p:sp>
        <p:nvSpPr>
          <p:cNvPr id="286" name="TextBox 285"/>
          <p:cNvSpPr txBox="1"/>
          <p:nvPr/>
        </p:nvSpPr>
        <p:spPr>
          <a:xfrm>
            <a:off x="2568863" y="599701"/>
            <a:ext cx="4972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Right Sensor</a:t>
            </a:r>
          </a:p>
          <a:p>
            <a:pPr algn="ctr">
              <a:defRPr/>
            </a:pPr>
            <a:r>
              <a:rPr lang="en-US" altLang="ko-KR" sz="400" b="1"/>
              <a:t> Input</a:t>
            </a:r>
            <a:endParaRPr lang="ko-KR" altLang="en-US" sz="400" b="1"/>
          </a:p>
        </p:txBody>
      </p:sp>
      <p:sp>
        <p:nvSpPr>
          <p:cNvPr id="294" name="TextBox 293"/>
          <p:cNvSpPr txBox="1"/>
          <p:nvPr/>
        </p:nvSpPr>
        <p:spPr>
          <a:xfrm>
            <a:off x="2388239" y="851412"/>
            <a:ext cx="4796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Dust Sensor</a:t>
            </a:r>
          </a:p>
          <a:p>
            <a:pPr algn="ctr">
              <a:defRPr/>
            </a:pPr>
            <a:r>
              <a:rPr lang="en-US" altLang="ko-KR" sz="400" b="1"/>
              <a:t>Input</a:t>
            </a:r>
            <a:endParaRPr lang="ko-KR" altLang="en-US" sz="400" b="1"/>
          </a:p>
        </p:txBody>
      </p:sp>
      <p:sp>
        <p:nvSpPr>
          <p:cNvPr id="296" name="TextBox 295"/>
          <p:cNvSpPr txBox="1"/>
          <p:nvPr/>
        </p:nvSpPr>
        <p:spPr>
          <a:xfrm>
            <a:off x="2336791" y="1222796"/>
            <a:ext cx="27443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/>
              <a:t>Tick</a:t>
            </a:r>
            <a:endParaRPr lang="ko-KR" altLang="en-US" sz="400"/>
          </a:p>
        </p:txBody>
      </p:sp>
      <p:sp>
        <p:nvSpPr>
          <p:cNvPr id="298" name="TextBox 297"/>
          <p:cNvSpPr txBox="1"/>
          <p:nvPr/>
        </p:nvSpPr>
        <p:spPr>
          <a:xfrm>
            <a:off x="3076166" y="2587114"/>
            <a:ext cx="409086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Direction</a:t>
            </a:r>
            <a:endParaRPr lang="ko-KR" altLang="en-US" sz="400" b="1"/>
          </a:p>
        </p:txBody>
      </p:sp>
      <p:sp>
        <p:nvSpPr>
          <p:cNvPr id="300" name="TextBox 299"/>
          <p:cNvSpPr txBox="1"/>
          <p:nvPr/>
        </p:nvSpPr>
        <p:spPr>
          <a:xfrm>
            <a:off x="2546257" y="2587114"/>
            <a:ext cx="317716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Clean</a:t>
            </a:r>
            <a:endParaRPr lang="ko-KR" altLang="en-US" sz="400" b="1"/>
          </a:p>
        </p:txBody>
      </p:sp>
      <p:cxnSp>
        <p:nvCxnSpPr>
          <p:cNvPr id="302" name="직선 화살표 연결선 301"/>
          <p:cNvCxnSpPr>
            <a:stCxn id="256" idx="4"/>
          </p:cNvCxnSpPr>
          <p:nvPr/>
        </p:nvCxnSpPr>
        <p:spPr>
          <a:xfrm>
            <a:off x="2983289" y="1609138"/>
            <a:ext cx="5180" cy="164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/>
          <p:cNvCxnSpPr/>
          <p:nvPr/>
        </p:nvCxnSpPr>
        <p:spPr>
          <a:xfrm>
            <a:off x="2755106" y="1782763"/>
            <a:ext cx="4562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TextBox 305"/>
          <p:cNvSpPr txBox="1"/>
          <p:nvPr/>
        </p:nvSpPr>
        <p:spPr>
          <a:xfrm>
            <a:off x="2690187" y="1770371"/>
            <a:ext cx="58702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Obstacle &amp; Dust</a:t>
            </a:r>
          </a:p>
          <a:p>
            <a:pPr algn="ctr">
              <a:defRPr/>
            </a:pPr>
            <a:r>
              <a:rPr lang="en-US" altLang="ko-KR" sz="400" b="1"/>
              <a:t>Location</a:t>
            </a:r>
            <a:endParaRPr lang="ko-KR" altLang="en-US" sz="400" b="1"/>
          </a:p>
        </p:txBody>
      </p:sp>
      <p:cxnSp>
        <p:nvCxnSpPr>
          <p:cNvPr id="307" name="직선 연결선 306"/>
          <p:cNvCxnSpPr/>
          <p:nvPr/>
        </p:nvCxnSpPr>
        <p:spPr>
          <a:xfrm>
            <a:off x="2767323" y="1953237"/>
            <a:ext cx="4562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직선 화살표 연결선 307"/>
          <p:cNvCxnSpPr>
            <a:endCxn id="258" idx="0"/>
          </p:cNvCxnSpPr>
          <p:nvPr/>
        </p:nvCxnSpPr>
        <p:spPr>
          <a:xfrm>
            <a:off x="2995195" y="1949444"/>
            <a:ext cx="2856" cy="181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/>
          <p:cNvCxnSpPr/>
          <p:nvPr/>
        </p:nvCxnSpPr>
        <p:spPr>
          <a:xfrm>
            <a:off x="3719313" y="0"/>
            <a:ext cx="27513" cy="3058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TextBox 377"/>
          <p:cNvSpPr txBox="1"/>
          <p:nvPr/>
        </p:nvSpPr>
        <p:spPr>
          <a:xfrm>
            <a:off x="3728596" y="18354"/>
            <a:ext cx="13902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DFD level 2</a:t>
            </a:r>
            <a:endParaRPr lang="ko-KR" altLang="en-US"/>
          </a:p>
        </p:txBody>
      </p:sp>
      <p:sp>
        <p:nvSpPr>
          <p:cNvPr id="430" name="순서도: 연결자 429"/>
          <p:cNvSpPr/>
          <p:nvPr/>
        </p:nvSpPr>
        <p:spPr>
          <a:xfrm>
            <a:off x="3989477" y="518291"/>
            <a:ext cx="489619" cy="4005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300"/>
              <a:t>Front</a:t>
            </a:r>
            <a:r>
              <a:rPr lang="ko-KR" altLang="en-US" sz="300"/>
              <a:t> </a:t>
            </a:r>
            <a:r>
              <a:rPr lang="en-US" altLang="ko-KR" sz="300"/>
              <a:t>Sensor</a:t>
            </a:r>
            <a:r>
              <a:rPr lang="ko-KR" altLang="en-US" sz="300"/>
              <a:t> </a:t>
            </a:r>
            <a:r>
              <a:rPr lang="en-US" altLang="ko-KR" sz="300"/>
              <a:t>Interface</a:t>
            </a:r>
            <a:r>
              <a:rPr lang="ko-KR" altLang="en-US" sz="300"/>
              <a:t> </a:t>
            </a:r>
          </a:p>
          <a:p>
            <a:pPr algn="ctr">
              <a:defRPr/>
            </a:pPr>
            <a:r>
              <a:rPr lang="en-US" altLang="ko-KR" sz="300"/>
              <a:t>1.1</a:t>
            </a:r>
            <a:endParaRPr lang="ko-KR" altLang="en-US" sz="300"/>
          </a:p>
        </p:txBody>
      </p:sp>
      <p:sp>
        <p:nvSpPr>
          <p:cNvPr id="437" name="순서도: 연결자 436"/>
          <p:cNvSpPr/>
          <p:nvPr/>
        </p:nvSpPr>
        <p:spPr>
          <a:xfrm>
            <a:off x="3989477" y="1029391"/>
            <a:ext cx="489619" cy="4005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300"/>
              <a:t>Left Sensor Interface 1.2</a:t>
            </a:r>
            <a:endParaRPr lang="ko-KR" altLang="en-US" sz="300"/>
          </a:p>
        </p:txBody>
      </p:sp>
      <p:sp>
        <p:nvSpPr>
          <p:cNvPr id="439" name="순서도: 연결자 438"/>
          <p:cNvSpPr/>
          <p:nvPr/>
        </p:nvSpPr>
        <p:spPr>
          <a:xfrm>
            <a:off x="3989477" y="1613693"/>
            <a:ext cx="489619" cy="4005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300"/>
              <a:t>Right Sensor Interface 1.3</a:t>
            </a:r>
            <a:endParaRPr lang="ko-KR" altLang="en-US" sz="300"/>
          </a:p>
        </p:txBody>
      </p:sp>
      <p:sp>
        <p:nvSpPr>
          <p:cNvPr id="441" name="순서도: 연결자 440"/>
          <p:cNvSpPr/>
          <p:nvPr/>
        </p:nvSpPr>
        <p:spPr>
          <a:xfrm>
            <a:off x="4000009" y="2155039"/>
            <a:ext cx="489619" cy="4005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300"/>
              <a:t>Dust Sensor Interface 1.4</a:t>
            </a:r>
            <a:endParaRPr lang="ko-KR" altLang="en-US" sz="300"/>
          </a:p>
        </p:txBody>
      </p:sp>
      <p:cxnSp>
        <p:nvCxnSpPr>
          <p:cNvPr id="443" name="직선 화살표 연결선 442"/>
          <p:cNvCxnSpPr>
            <a:endCxn id="430" idx="1"/>
          </p:cNvCxnSpPr>
          <p:nvPr/>
        </p:nvCxnSpPr>
        <p:spPr>
          <a:xfrm>
            <a:off x="3784600" y="576946"/>
            <a:ext cx="2765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직선 화살표 연결선 446"/>
          <p:cNvCxnSpPr>
            <a:endCxn id="437" idx="1"/>
          </p:cNvCxnSpPr>
          <p:nvPr/>
        </p:nvCxnSpPr>
        <p:spPr>
          <a:xfrm>
            <a:off x="3787775" y="1088046"/>
            <a:ext cx="2734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직선 화살표 연결선 450"/>
          <p:cNvCxnSpPr>
            <a:endCxn id="439" idx="1"/>
          </p:cNvCxnSpPr>
          <p:nvPr/>
        </p:nvCxnSpPr>
        <p:spPr>
          <a:xfrm>
            <a:off x="3778250" y="1672348"/>
            <a:ext cx="2829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직선 화살표 연결선 455"/>
          <p:cNvCxnSpPr>
            <a:endCxn id="441" idx="1"/>
          </p:cNvCxnSpPr>
          <p:nvPr/>
        </p:nvCxnSpPr>
        <p:spPr>
          <a:xfrm>
            <a:off x="3817200" y="2213694"/>
            <a:ext cx="2545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TextBox 458"/>
          <p:cNvSpPr txBox="1"/>
          <p:nvPr/>
        </p:nvSpPr>
        <p:spPr>
          <a:xfrm>
            <a:off x="3629510" y="455896"/>
            <a:ext cx="51488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Front Sensor </a:t>
            </a:r>
          </a:p>
          <a:p>
            <a:pPr algn="ctr">
              <a:defRPr/>
            </a:pPr>
            <a:r>
              <a:rPr lang="en-US" altLang="ko-KR" sz="400" b="1"/>
              <a:t>Input</a:t>
            </a:r>
            <a:endParaRPr lang="ko-KR" altLang="en-US" sz="400" b="1"/>
          </a:p>
        </p:txBody>
      </p:sp>
      <p:sp>
        <p:nvSpPr>
          <p:cNvPr id="461" name="TextBox 460"/>
          <p:cNvSpPr txBox="1"/>
          <p:nvPr/>
        </p:nvSpPr>
        <p:spPr>
          <a:xfrm>
            <a:off x="3658066" y="969133"/>
            <a:ext cx="46038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Left Sensor</a:t>
            </a:r>
          </a:p>
          <a:p>
            <a:pPr algn="ctr">
              <a:defRPr/>
            </a:pPr>
            <a:r>
              <a:rPr lang="en-US" altLang="ko-KR" sz="400" b="1"/>
              <a:t> Input</a:t>
            </a:r>
            <a:endParaRPr lang="ko-KR" altLang="en-US" sz="400" b="1"/>
          </a:p>
        </p:txBody>
      </p:sp>
      <p:sp>
        <p:nvSpPr>
          <p:cNvPr id="463" name="TextBox 462"/>
          <p:cNvSpPr txBox="1"/>
          <p:nvPr/>
        </p:nvSpPr>
        <p:spPr>
          <a:xfrm>
            <a:off x="3646341" y="1555554"/>
            <a:ext cx="4972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Right Sensor</a:t>
            </a:r>
          </a:p>
          <a:p>
            <a:pPr algn="ctr">
              <a:defRPr/>
            </a:pPr>
            <a:r>
              <a:rPr lang="en-US" altLang="ko-KR" sz="400" b="1"/>
              <a:t> Input</a:t>
            </a:r>
            <a:endParaRPr lang="ko-KR" altLang="en-US" sz="400" b="1"/>
          </a:p>
        </p:txBody>
      </p:sp>
      <p:sp>
        <p:nvSpPr>
          <p:cNvPr id="465" name="TextBox 464"/>
          <p:cNvSpPr txBox="1"/>
          <p:nvPr/>
        </p:nvSpPr>
        <p:spPr>
          <a:xfrm>
            <a:off x="3663173" y="2096868"/>
            <a:ext cx="47961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Dust Sensor</a:t>
            </a:r>
          </a:p>
          <a:p>
            <a:pPr algn="ctr">
              <a:defRPr/>
            </a:pPr>
            <a:r>
              <a:rPr lang="en-US" altLang="ko-KR" sz="400" b="1"/>
              <a:t>Input</a:t>
            </a:r>
            <a:endParaRPr lang="ko-KR" altLang="en-US" sz="400" b="1"/>
          </a:p>
        </p:txBody>
      </p:sp>
      <p:cxnSp>
        <p:nvCxnSpPr>
          <p:cNvPr id="466" name="직선 화살표 연결선 465"/>
          <p:cNvCxnSpPr>
            <a:endCxn id="441" idx="3"/>
          </p:cNvCxnSpPr>
          <p:nvPr/>
        </p:nvCxnSpPr>
        <p:spPr>
          <a:xfrm flipV="1">
            <a:off x="3842596" y="2496903"/>
            <a:ext cx="229116" cy="5865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직선 화살표 연결선 468"/>
          <p:cNvCxnSpPr>
            <a:endCxn id="437" idx="3"/>
          </p:cNvCxnSpPr>
          <p:nvPr/>
        </p:nvCxnSpPr>
        <p:spPr>
          <a:xfrm flipV="1">
            <a:off x="3833412" y="1371255"/>
            <a:ext cx="227768" cy="5442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직선 화살표 연결선 470"/>
          <p:cNvCxnSpPr>
            <a:endCxn id="439" idx="3"/>
          </p:cNvCxnSpPr>
          <p:nvPr/>
        </p:nvCxnSpPr>
        <p:spPr>
          <a:xfrm flipV="1">
            <a:off x="3827101" y="1955557"/>
            <a:ext cx="234079" cy="6740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TextBox 474"/>
          <p:cNvSpPr txBox="1"/>
          <p:nvPr/>
        </p:nvSpPr>
        <p:spPr>
          <a:xfrm>
            <a:off x="3746826" y="1299740"/>
            <a:ext cx="284052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Tick</a:t>
            </a:r>
            <a:endParaRPr lang="ko-KR" altLang="en-US" sz="400" b="1"/>
          </a:p>
        </p:txBody>
      </p:sp>
      <p:sp>
        <p:nvSpPr>
          <p:cNvPr id="477" name="TextBox 476"/>
          <p:cNvSpPr txBox="1"/>
          <p:nvPr/>
        </p:nvSpPr>
        <p:spPr>
          <a:xfrm>
            <a:off x="3721388" y="1878003"/>
            <a:ext cx="284827" cy="1393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Tick</a:t>
            </a:r>
            <a:endParaRPr lang="ko-KR" altLang="en-US" sz="400" b="1"/>
          </a:p>
        </p:txBody>
      </p:sp>
      <p:sp>
        <p:nvSpPr>
          <p:cNvPr id="479" name="TextBox 478"/>
          <p:cNvSpPr txBox="1"/>
          <p:nvPr/>
        </p:nvSpPr>
        <p:spPr>
          <a:xfrm>
            <a:off x="3776023" y="2401670"/>
            <a:ext cx="287342" cy="1396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Tick</a:t>
            </a:r>
            <a:endParaRPr lang="ko-KR" altLang="en-US" sz="400" b="1"/>
          </a:p>
        </p:txBody>
      </p:sp>
      <p:sp>
        <p:nvSpPr>
          <p:cNvPr id="481" name="순서도: 연결자 480"/>
          <p:cNvSpPr/>
          <p:nvPr/>
        </p:nvSpPr>
        <p:spPr>
          <a:xfrm>
            <a:off x="4636786" y="916070"/>
            <a:ext cx="547946" cy="50949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ko-KR" sz="300" dirty="0" err="1"/>
              <a:t>Determine</a:t>
            </a:r>
            <a:r>
              <a:rPr lang="ko-KR" altLang="ko-KR" sz="300" dirty="0"/>
              <a:t> </a:t>
            </a:r>
            <a:r>
              <a:rPr lang="ko-KR" altLang="ko-KR" sz="300" dirty="0" err="1"/>
              <a:t>Obstacle</a:t>
            </a:r>
            <a:r>
              <a:rPr lang="ko-KR" altLang="ko-KR" sz="300" dirty="0"/>
              <a:t> </a:t>
            </a:r>
            <a:r>
              <a:rPr lang="ko-KR" altLang="ko-KR" sz="300" dirty="0" err="1"/>
              <a:t>Location</a:t>
            </a:r>
            <a:endParaRPr lang="en-US" altLang="ko-KR" sz="300" dirty="0"/>
          </a:p>
          <a:p>
            <a:pPr algn="ctr">
              <a:defRPr/>
            </a:pPr>
            <a:r>
              <a:rPr lang="ko-KR" altLang="ko-KR" sz="300" dirty="0"/>
              <a:t>1.5</a:t>
            </a:r>
            <a:endParaRPr lang="ko-KR" altLang="en-US" sz="300" dirty="0"/>
          </a:p>
        </p:txBody>
      </p:sp>
      <p:sp>
        <p:nvSpPr>
          <p:cNvPr id="483" name="순서도: 연결자 482"/>
          <p:cNvSpPr/>
          <p:nvPr/>
        </p:nvSpPr>
        <p:spPr>
          <a:xfrm>
            <a:off x="4658009" y="1770136"/>
            <a:ext cx="547946" cy="50949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ko-KR" sz="300" dirty="0" err="1"/>
              <a:t>Determine</a:t>
            </a:r>
            <a:r>
              <a:rPr lang="ko-KR" altLang="ko-KR" sz="300" dirty="0"/>
              <a:t> </a:t>
            </a:r>
            <a:r>
              <a:rPr lang="ko-KR" altLang="ko-KR" sz="300" dirty="0" err="1"/>
              <a:t>Dust</a:t>
            </a:r>
            <a:r>
              <a:rPr lang="ko-KR" altLang="ko-KR" sz="300" dirty="0"/>
              <a:t> </a:t>
            </a:r>
            <a:r>
              <a:rPr lang="ko-KR" altLang="ko-KR" sz="300" dirty="0" err="1"/>
              <a:t>Existence</a:t>
            </a:r>
            <a:endParaRPr lang="en-US" altLang="ko-KR" sz="300" dirty="0"/>
          </a:p>
          <a:p>
            <a:pPr algn="ctr">
              <a:defRPr/>
            </a:pPr>
            <a:r>
              <a:rPr lang="ko-KR" altLang="ko-KR" sz="300" dirty="0"/>
              <a:t>1.6</a:t>
            </a:r>
            <a:endParaRPr lang="ko-KR" altLang="en-US" sz="300" dirty="0"/>
          </a:p>
        </p:txBody>
      </p:sp>
      <p:cxnSp>
        <p:nvCxnSpPr>
          <p:cNvPr id="485" name="직선 화살표 연결선 484"/>
          <p:cNvCxnSpPr>
            <a:stCxn id="430" idx="6"/>
            <a:endCxn id="481" idx="1"/>
          </p:cNvCxnSpPr>
          <p:nvPr/>
        </p:nvCxnSpPr>
        <p:spPr>
          <a:xfrm>
            <a:off x="4479096" y="718551"/>
            <a:ext cx="237935" cy="272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직선 화살표 연결선 486"/>
          <p:cNvCxnSpPr>
            <a:stCxn id="437" idx="6"/>
            <a:endCxn id="481" idx="2"/>
          </p:cNvCxnSpPr>
          <p:nvPr/>
        </p:nvCxnSpPr>
        <p:spPr>
          <a:xfrm flipV="1">
            <a:off x="4479096" y="1170817"/>
            <a:ext cx="157690" cy="58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직선 화살표 연결선 488"/>
          <p:cNvCxnSpPr>
            <a:stCxn id="439" idx="7"/>
            <a:endCxn id="481" idx="3"/>
          </p:cNvCxnSpPr>
          <p:nvPr/>
        </p:nvCxnSpPr>
        <p:spPr>
          <a:xfrm flipV="1">
            <a:off x="4407393" y="1350949"/>
            <a:ext cx="309638" cy="321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직선 화살표 연결선 490"/>
          <p:cNvCxnSpPr>
            <a:stCxn id="441" idx="6"/>
            <a:endCxn id="483" idx="3"/>
          </p:cNvCxnSpPr>
          <p:nvPr/>
        </p:nvCxnSpPr>
        <p:spPr>
          <a:xfrm flipV="1">
            <a:off x="4489628" y="2205015"/>
            <a:ext cx="248626" cy="150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TextBox 492"/>
          <p:cNvSpPr txBox="1"/>
          <p:nvPr/>
        </p:nvSpPr>
        <p:spPr>
          <a:xfrm>
            <a:off x="4463416" y="706022"/>
            <a:ext cx="543739" cy="139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Front Obstacle</a:t>
            </a:r>
            <a:endParaRPr lang="ko-KR" altLang="en-US" sz="400" b="1"/>
          </a:p>
        </p:txBody>
      </p:sp>
      <p:sp>
        <p:nvSpPr>
          <p:cNvPr id="496" name="TextBox 495"/>
          <p:cNvSpPr txBox="1"/>
          <p:nvPr/>
        </p:nvSpPr>
        <p:spPr>
          <a:xfrm>
            <a:off x="4345346" y="990523"/>
            <a:ext cx="39626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Left </a:t>
            </a:r>
          </a:p>
          <a:p>
            <a:pPr algn="ctr">
              <a:defRPr/>
            </a:pPr>
            <a:r>
              <a:rPr lang="en-US" altLang="ko-KR" sz="400" b="1"/>
              <a:t>Obstacle</a:t>
            </a:r>
            <a:endParaRPr lang="ko-KR" altLang="en-US" sz="400" b="1"/>
          </a:p>
        </p:txBody>
      </p:sp>
      <p:sp>
        <p:nvSpPr>
          <p:cNvPr id="501" name="TextBox 500"/>
          <p:cNvSpPr txBox="1"/>
          <p:nvPr/>
        </p:nvSpPr>
        <p:spPr>
          <a:xfrm>
            <a:off x="4331296" y="1384290"/>
            <a:ext cx="543740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Right Obstacle</a:t>
            </a:r>
            <a:endParaRPr lang="ko-KR" altLang="en-US" sz="400" b="1"/>
          </a:p>
        </p:txBody>
      </p:sp>
      <p:sp>
        <p:nvSpPr>
          <p:cNvPr id="503" name="TextBox 502"/>
          <p:cNvSpPr txBox="1"/>
          <p:nvPr/>
        </p:nvSpPr>
        <p:spPr>
          <a:xfrm>
            <a:off x="4422161" y="2231424"/>
            <a:ext cx="540533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Dust Existence</a:t>
            </a:r>
            <a:endParaRPr lang="ko-KR" altLang="en-US" sz="400" b="1"/>
          </a:p>
        </p:txBody>
      </p:sp>
      <p:cxnSp>
        <p:nvCxnSpPr>
          <p:cNvPr id="505" name="직선 화살표 연결선 504"/>
          <p:cNvCxnSpPr>
            <a:stCxn id="481" idx="6"/>
          </p:cNvCxnSpPr>
          <p:nvPr/>
        </p:nvCxnSpPr>
        <p:spPr>
          <a:xfrm>
            <a:off x="5184732" y="1170817"/>
            <a:ext cx="1810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직선 화살표 연결선 506"/>
          <p:cNvCxnSpPr>
            <a:stCxn id="483" idx="6"/>
          </p:cNvCxnSpPr>
          <p:nvPr/>
        </p:nvCxnSpPr>
        <p:spPr>
          <a:xfrm flipV="1">
            <a:off x="5205955" y="2021448"/>
            <a:ext cx="183110" cy="3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TextBox 508"/>
          <p:cNvSpPr txBox="1"/>
          <p:nvPr/>
        </p:nvSpPr>
        <p:spPr>
          <a:xfrm>
            <a:off x="5271628" y="1063375"/>
            <a:ext cx="40146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Obstacle</a:t>
            </a:r>
          </a:p>
          <a:p>
            <a:pPr algn="ctr">
              <a:defRPr/>
            </a:pPr>
            <a:r>
              <a:rPr lang="en-US" altLang="ko-KR" sz="400" b="1"/>
              <a:t>Location</a:t>
            </a:r>
            <a:endParaRPr lang="ko-KR" altLang="en-US" sz="400" b="1"/>
          </a:p>
        </p:txBody>
      </p:sp>
      <p:cxnSp>
        <p:nvCxnSpPr>
          <p:cNvPr id="510" name="직선 연결선 509"/>
          <p:cNvCxnSpPr/>
          <p:nvPr/>
        </p:nvCxnSpPr>
        <p:spPr>
          <a:xfrm>
            <a:off x="5339891" y="1100490"/>
            <a:ext cx="2513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직선 연결선 513"/>
          <p:cNvCxnSpPr/>
          <p:nvPr/>
        </p:nvCxnSpPr>
        <p:spPr>
          <a:xfrm>
            <a:off x="5351501" y="1243365"/>
            <a:ext cx="2428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직선 연결선 518"/>
          <p:cNvCxnSpPr/>
          <p:nvPr/>
        </p:nvCxnSpPr>
        <p:spPr>
          <a:xfrm>
            <a:off x="5346554" y="1960270"/>
            <a:ext cx="2513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직선 연결선 519"/>
          <p:cNvCxnSpPr/>
          <p:nvPr/>
        </p:nvCxnSpPr>
        <p:spPr>
          <a:xfrm>
            <a:off x="5358164" y="2103145"/>
            <a:ext cx="2428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5258380" y="1924892"/>
            <a:ext cx="41069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Dust</a:t>
            </a:r>
          </a:p>
          <a:p>
            <a:pPr algn="ctr">
              <a:defRPr/>
            </a:pPr>
            <a:r>
              <a:rPr lang="en-US" altLang="ko-KR" sz="400" b="1"/>
              <a:t>Existence</a:t>
            </a:r>
            <a:endParaRPr lang="ko-KR" altLang="en-US" sz="400" b="1"/>
          </a:p>
        </p:txBody>
      </p:sp>
      <p:cxnSp>
        <p:nvCxnSpPr>
          <p:cNvPr id="523" name="직선 화살표 연결선 522"/>
          <p:cNvCxnSpPr>
            <a:endCxn id="526" idx="1"/>
          </p:cNvCxnSpPr>
          <p:nvPr/>
        </p:nvCxnSpPr>
        <p:spPr>
          <a:xfrm>
            <a:off x="5590937" y="1171097"/>
            <a:ext cx="85876" cy="245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직선 화살표 연결선 523"/>
          <p:cNvCxnSpPr>
            <a:endCxn id="526" idx="3"/>
          </p:cNvCxnSpPr>
          <p:nvPr/>
        </p:nvCxnSpPr>
        <p:spPr>
          <a:xfrm flipV="1">
            <a:off x="5601721" y="1703614"/>
            <a:ext cx="75092" cy="333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6" name="순서도: 연결자 525"/>
          <p:cNvSpPr/>
          <p:nvPr/>
        </p:nvSpPr>
        <p:spPr>
          <a:xfrm>
            <a:off x="5610883" y="1357146"/>
            <a:ext cx="450200" cy="40591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300" dirty="0"/>
              <a:t>Controller</a:t>
            </a:r>
          </a:p>
          <a:p>
            <a:pPr algn="ctr">
              <a:defRPr/>
            </a:pPr>
            <a:r>
              <a:rPr lang="en-US" altLang="ko-KR" sz="300" dirty="0"/>
              <a:t>2.1.1</a:t>
            </a:r>
          </a:p>
        </p:txBody>
      </p:sp>
      <p:cxnSp>
        <p:nvCxnSpPr>
          <p:cNvPr id="536" name="직선 화살표 연결선 535"/>
          <p:cNvCxnSpPr>
            <a:stCxn id="526" idx="7"/>
            <a:endCxn id="543" idx="2"/>
          </p:cNvCxnSpPr>
          <p:nvPr/>
        </p:nvCxnSpPr>
        <p:spPr>
          <a:xfrm flipV="1">
            <a:off x="5995153" y="1270989"/>
            <a:ext cx="234551" cy="145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직선 화살표 연결선 538"/>
          <p:cNvCxnSpPr>
            <a:stCxn id="526" idx="5"/>
            <a:endCxn id="546" idx="2"/>
          </p:cNvCxnSpPr>
          <p:nvPr/>
        </p:nvCxnSpPr>
        <p:spPr>
          <a:xfrm>
            <a:off x="5995153" y="1703614"/>
            <a:ext cx="242404" cy="199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3" name="순서도: 연결자 542"/>
          <p:cNvSpPr/>
          <p:nvPr/>
        </p:nvSpPr>
        <p:spPr>
          <a:xfrm>
            <a:off x="6229704" y="1116298"/>
            <a:ext cx="378206" cy="30938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300"/>
              <a:t>Motor Interface 2.2</a:t>
            </a:r>
            <a:endParaRPr lang="ko-KR" altLang="en-US" sz="300"/>
          </a:p>
        </p:txBody>
      </p:sp>
      <p:sp>
        <p:nvSpPr>
          <p:cNvPr id="546" name="순서도: 연결자 545"/>
          <p:cNvSpPr/>
          <p:nvPr/>
        </p:nvSpPr>
        <p:spPr>
          <a:xfrm>
            <a:off x="6237557" y="1748662"/>
            <a:ext cx="378206" cy="30938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300"/>
              <a:t>Cleaner Interface 2.3</a:t>
            </a:r>
            <a:endParaRPr lang="ko-KR" altLang="en-US" sz="300"/>
          </a:p>
        </p:txBody>
      </p:sp>
      <p:cxnSp>
        <p:nvCxnSpPr>
          <p:cNvPr id="550" name="직선 화살표 연결선 549"/>
          <p:cNvCxnSpPr>
            <a:endCxn id="526" idx="4"/>
          </p:cNvCxnSpPr>
          <p:nvPr/>
        </p:nvCxnSpPr>
        <p:spPr>
          <a:xfrm flipV="1">
            <a:off x="5835983" y="1763058"/>
            <a:ext cx="0" cy="21161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5708263" y="1954947"/>
            <a:ext cx="284052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Tick</a:t>
            </a:r>
            <a:endParaRPr lang="ko-KR" altLang="en-US" sz="400" b="1"/>
          </a:p>
        </p:txBody>
      </p:sp>
      <p:sp>
        <p:nvSpPr>
          <p:cNvPr id="555" name="TextBox 554"/>
          <p:cNvSpPr txBox="1"/>
          <p:nvPr/>
        </p:nvSpPr>
        <p:spPr>
          <a:xfrm>
            <a:off x="5808659" y="1161240"/>
            <a:ext cx="4359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Motor</a:t>
            </a:r>
          </a:p>
          <a:p>
            <a:pPr algn="ctr">
              <a:defRPr/>
            </a:pPr>
            <a:r>
              <a:rPr lang="en-US" altLang="ko-KR" sz="400" b="1"/>
              <a:t>Command</a:t>
            </a:r>
            <a:endParaRPr lang="ko-KR" altLang="en-US" sz="400" b="1"/>
          </a:p>
        </p:txBody>
      </p:sp>
      <p:sp>
        <p:nvSpPr>
          <p:cNvPr id="557" name="TextBox 556"/>
          <p:cNvSpPr txBox="1"/>
          <p:nvPr/>
        </p:nvSpPr>
        <p:spPr>
          <a:xfrm>
            <a:off x="5933605" y="1613890"/>
            <a:ext cx="4348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Cleaner</a:t>
            </a:r>
          </a:p>
          <a:p>
            <a:pPr algn="ctr">
              <a:defRPr/>
            </a:pPr>
            <a:r>
              <a:rPr lang="en-US" altLang="ko-KR" sz="400" b="1"/>
              <a:t>Command</a:t>
            </a:r>
            <a:endParaRPr lang="ko-KR" altLang="en-US" sz="400" b="1"/>
          </a:p>
        </p:txBody>
      </p:sp>
      <p:cxnSp>
        <p:nvCxnSpPr>
          <p:cNvPr id="559" name="직선 화살표 연결선 558"/>
          <p:cNvCxnSpPr>
            <a:stCxn id="543" idx="7"/>
          </p:cNvCxnSpPr>
          <p:nvPr/>
        </p:nvCxnSpPr>
        <p:spPr>
          <a:xfrm flipV="1">
            <a:off x="6552523" y="1041400"/>
            <a:ext cx="212600" cy="120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직선 화살표 연결선 560"/>
          <p:cNvCxnSpPr>
            <a:stCxn id="546" idx="5"/>
          </p:cNvCxnSpPr>
          <p:nvPr/>
        </p:nvCxnSpPr>
        <p:spPr>
          <a:xfrm>
            <a:off x="6560376" y="2012735"/>
            <a:ext cx="142049" cy="1669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3" name="TextBox 562"/>
          <p:cNvSpPr txBox="1"/>
          <p:nvPr/>
        </p:nvSpPr>
        <p:spPr>
          <a:xfrm>
            <a:off x="6365989" y="986425"/>
            <a:ext cx="409087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Direction</a:t>
            </a:r>
            <a:endParaRPr lang="ko-KR" altLang="en-US" sz="400" b="1"/>
          </a:p>
        </p:txBody>
      </p:sp>
      <p:sp>
        <p:nvSpPr>
          <p:cNvPr id="566" name="TextBox 565"/>
          <p:cNvSpPr txBox="1"/>
          <p:nvPr/>
        </p:nvSpPr>
        <p:spPr>
          <a:xfrm>
            <a:off x="6371599" y="2048798"/>
            <a:ext cx="317716" cy="1400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Clean</a:t>
            </a:r>
            <a:endParaRPr lang="ko-KR" altLang="en-US" sz="400" b="1"/>
          </a:p>
        </p:txBody>
      </p:sp>
      <p:sp>
        <p:nvSpPr>
          <p:cNvPr id="5" name="TextBox 4"/>
          <p:cNvSpPr txBox="1"/>
          <p:nvPr/>
        </p:nvSpPr>
        <p:spPr>
          <a:xfrm>
            <a:off x="251579" y="4321382"/>
            <a:ext cx="62091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Obstacle Location</a:t>
            </a:r>
          </a:p>
          <a:p>
            <a:pPr algn="ctr">
              <a:defRPr/>
            </a:pPr>
            <a:r>
              <a:rPr lang="en-US" altLang="ko-KR" sz="400" b="1"/>
              <a:t>F / L / R</a:t>
            </a:r>
            <a:endParaRPr lang="ko-KR" altLang="en-US" sz="400" b="1"/>
          </a:p>
        </p:txBody>
      </p:sp>
      <p:sp>
        <p:nvSpPr>
          <p:cNvPr id="9" name="TextBox 8"/>
          <p:cNvSpPr txBox="1"/>
          <p:nvPr/>
        </p:nvSpPr>
        <p:spPr>
          <a:xfrm>
            <a:off x="302293" y="5456675"/>
            <a:ext cx="41069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Dust</a:t>
            </a:r>
          </a:p>
          <a:p>
            <a:pPr algn="ctr">
              <a:defRPr/>
            </a:pPr>
            <a:r>
              <a:rPr lang="en-US" altLang="ko-KR" sz="400" b="1"/>
              <a:t>Existence</a:t>
            </a:r>
            <a:endParaRPr lang="ko-KR" altLang="en-US" sz="400" b="1"/>
          </a:p>
        </p:txBody>
      </p:sp>
      <p:sp>
        <p:nvSpPr>
          <p:cNvPr id="31" name="TextBox 30"/>
          <p:cNvSpPr txBox="1"/>
          <p:nvPr/>
        </p:nvSpPr>
        <p:spPr>
          <a:xfrm>
            <a:off x="1609571" y="4259291"/>
            <a:ext cx="284052" cy="1393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Tick</a:t>
            </a:r>
            <a:endParaRPr lang="ko-KR" altLang="en-US" sz="400" b="1"/>
          </a:p>
        </p:txBody>
      </p:sp>
      <p:cxnSp>
        <p:nvCxnSpPr>
          <p:cNvPr id="44" name="직선 화살표 연결선 43"/>
          <p:cNvCxnSpPr>
            <a:stCxn id="316" idx="7"/>
            <a:endCxn id="317" idx="2"/>
          </p:cNvCxnSpPr>
          <p:nvPr/>
        </p:nvCxnSpPr>
        <p:spPr>
          <a:xfrm flipV="1">
            <a:off x="2283897" y="3873774"/>
            <a:ext cx="893120" cy="1040633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316" idx="7"/>
            <a:endCxn id="317" idx="3"/>
          </p:cNvCxnSpPr>
          <p:nvPr/>
        </p:nvCxnSpPr>
        <p:spPr>
          <a:xfrm flipV="1">
            <a:off x="2283897" y="4052585"/>
            <a:ext cx="972776" cy="86182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316" idx="6"/>
            <a:endCxn id="318" idx="2"/>
          </p:cNvCxnSpPr>
          <p:nvPr/>
        </p:nvCxnSpPr>
        <p:spPr>
          <a:xfrm flipV="1">
            <a:off x="2395432" y="4617654"/>
            <a:ext cx="786874" cy="54712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316" idx="6"/>
            <a:endCxn id="319" idx="2"/>
          </p:cNvCxnSpPr>
          <p:nvPr/>
        </p:nvCxnSpPr>
        <p:spPr>
          <a:xfrm>
            <a:off x="2395432" y="5164781"/>
            <a:ext cx="795777" cy="14491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316" idx="5"/>
            <a:endCxn id="320" idx="2"/>
          </p:cNvCxnSpPr>
          <p:nvPr/>
        </p:nvCxnSpPr>
        <p:spPr>
          <a:xfrm>
            <a:off x="2283897" y="5415154"/>
            <a:ext cx="907312" cy="56796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stCxn id="316" idx="4"/>
            <a:endCxn id="366" idx="2"/>
          </p:cNvCxnSpPr>
          <p:nvPr/>
        </p:nvCxnSpPr>
        <p:spPr>
          <a:xfrm>
            <a:off x="2014627" y="5518862"/>
            <a:ext cx="1139972" cy="1034503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TextBox 449"/>
          <p:cNvSpPr txBox="1"/>
          <p:nvPr/>
        </p:nvSpPr>
        <p:spPr>
          <a:xfrm>
            <a:off x="2495242" y="4224576"/>
            <a:ext cx="348923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Enable</a:t>
            </a:r>
            <a:endParaRPr lang="ko-KR" altLang="en-US" sz="400" b="1"/>
          </a:p>
        </p:txBody>
      </p:sp>
      <p:sp>
        <p:nvSpPr>
          <p:cNvPr id="453" name="TextBox 452"/>
          <p:cNvSpPr txBox="1"/>
          <p:nvPr/>
        </p:nvSpPr>
        <p:spPr>
          <a:xfrm>
            <a:off x="2755188" y="4377100"/>
            <a:ext cx="365202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Disable</a:t>
            </a:r>
            <a:endParaRPr lang="ko-KR" altLang="en-US" sz="400" b="1"/>
          </a:p>
        </p:txBody>
      </p:sp>
      <p:sp>
        <p:nvSpPr>
          <p:cNvPr id="455" name="TextBox 454"/>
          <p:cNvSpPr txBox="1"/>
          <p:nvPr/>
        </p:nvSpPr>
        <p:spPr>
          <a:xfrm>
            <a:off x="2588565" y="4741249"/>
            <a:ext cx="369900" cy="1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Trigger</a:t>
            </a:r>
            <a:endParaRPr lang="ko-KR" altLang="en-US" sz="400" b="1"/>
          </a:p>
        </p:txBody>
      </p:sp>
      <p:sp>
        <p:nvSpPr>
          <p:cNvPr id="458" name="TextBox 457"/>
          <p:cNvSpPr txBox="1"/>
          <p:nvPr/>
        </p:nvSpPr>
        <p:spPr>
          <a:xfrm>
            <a:off x="2709316" y="5120319"/>
            <a:ext cx="37297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Trigger</a:t>
            </a:r>
            <a:endParaRPr lang="ko-KR" altLang="en-US" sz="400" b="1"/>
          </a:p>
        </p:txBody>
      </p:sp>
      <p:sp>
        <p:nvSpPr>
          <p:cNvPr id="462" name="TextBox 461"/>
          <p:cNvSpPr txBox="1"/>
          <p:nvPr/>
        </p:nvSpPr>
        <p:spPr>
          <a:xfrm>
            <a:off x="2870190" y="5748210"/>
            <a:ext cx="345450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Enable</a:t>
            </a:r>
            <a:endParaRPr lang="ko-KR" altLang="en-US" sz="400" b="1"/>
          </a:p>
        </p:txBody>
      </p:sp>
      <p:cxnSp>
        <p:nvCxnSpPr>
          <p:cNvPr id="468" name="직선 화살표 연결선 467"/>
          <p:cNvCxnSpPr>
            <a:endCxn id="318" idx="3"/>
          </p:cNvCxnSpPr>
          <p:nvPr/>
        </p:nvCxnSpPr>
        <p:spPr>
          <a:xfrm flipV="1">
            <a:off x="3058100" y="4796465"/>
            <a:ext cx="203862" cy="11794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직선 화살표 연결선 469"/>
          <p:cNvCxnSpPr>
            <a:endCxn id="319" idx="3"/>
          </p:cNvCxnSpPr>
          <p:nvPr/>
        </p:nvCxnSpPr>
        <p:spPr>
          <a:xfrm flipV="1">
            <a:off x="3034711" y="5488502"/>
            <a:ext cx="236154" cy="11370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/>
          <p:cNvSpPr txBox="1"/>
          <p:nvPr/>
        </p:nvSpPr>
        <p:spPr>
          <a:xfrm>
            <a:off x="2874801" y="6081968"/>
            <a:ext cx="255198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On</a:t>
            </a:r>
            <a:endParaRPr lang="ko-KR" altLang="en-US" sz="400" b="1"/>
          </a:p>
        </p:txBody>
      </p:sp>
      <p:sp>
        <p:nvSpPr>
          <p:cNvPr id="478" name="TextBox 477"/>
          <p:cNvSpPr txBox="1"/>
          <p:nvPr/>
        </p:nvSpPr>
        <p:spPr>
          <a:xfrm>
            <a:off x="2892965" y="4871299"/>
            <a:ext cx="284575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Tick</a:t>
            </a:r>
            <a:endParaRPr lang="ko-KR" altLang="en-US" sz="400" b="1"/>
          </a:p>
        </p:txBody>
      </p:sp>
      <p:sp>
        <p:nvSpPr>
          <p:cNvPr id="498" name="TextBox 497"/>
          <p:cNvSpPr txBox="1"/>
          <p:nvPr/>
        </p:nvSpPr>
        <p:spPr>
          <a:xfrm>
            <a:off x="4023360" y="3846251"/>
            <a:ext cx="601980" cy="1428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Motor Co</a:t>
            </a:r>
            <a:r>
              <a:rPr lang="ko-KR" altLang="en-US" sz="400" b="1"/>
              <a:t>mmand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3851910" y="4441897"/>
            <a:ext cx="601980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Motor Co</a:t>
            </a:r>
            <a:r>
              <a:rPr lang="ko-KR" altLang="en-US" sz="400" b="1"/>
              <a:t>mmand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3823335" y="4929853"/>
            <a:ext cx="601980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Motor Co</a:t>
            </a:r>
            <a:r>
              <a:rPr lang="ko-KR" altLang="en-US" sz="400" b="1"/>
              <a:t>mmand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3851910" y="5460166"/>
            <a:ext cx="601980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Motor Co</a:t>
            </a:r>
            <a:r>
              <a:rPr lang="ko-KR" altLang="en-US" sz="400" b="1"/>
              <a:t>mmand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5855441" y="4475507"/>
            <a:ext cx="409086" cy="14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Direction</a:t>
            </a:r>
            <a:endParaRPr lang="ko-KR" altLang="en-US" sz="400" b="1"/>
          </a:p>
        </p:txBody>
      </p:sp>
      <p:sp>
        <p:nvSpPr>
          <p:cNvPr id="517" name="TextBox 516"/>
          <p:cNvSpPr txBox="1"/>
          <p:nvPr/>
        </p:nvSpPr>
        <p:spPr>
          <a:xfrm>
            <a:off x="5926676" y="6063930"/>
            <a:ext cx="31791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Clean</a:t>
            </a:r>
            <a:endParaRPr lang="ko-KR" altLang="en-US" sz="400" b="1"/>
          </a:p>
        </p:txBody>
      </p:sp>
      <p:sp>
        <p:nvSpPr>
          <p:cNvPr id="521" name="TextBox 520"/>
          <p:cNvSpPr txBox="1"/>
          <p:nvPr/>
        </p:nvSpPr>
        <p:spPr>
          <a:xfrm>
            <a:off x="3899535" y="6358477"/>
            <a:ext cx="630555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" b="1"/>
              <a:t>Cleaner Co</a:t>
            </a:r>
            <a:r>
              <a:rPr lang="ko-KR" altLang="en-US" sz="400" b="1"/>
              <a:t>mmand</a:t>
            </a:r>
            <a:endParaRPr lang="en-US" altLang="ko-KR" sz="400" b="1"/>
          </a:p>
        </p:txBody>
      </p:sp>
      <p:cxnSp>
        <p:nvCxnSpPr>
          <p:cNvPr id="527" name="직선 화살표 연결선 526"/>
          <p:cNvCxnSpPr>
            <a:endCxn id="320" idx="3"/>
          </p:cNvCxnSpPr>
          <p:nvPr/>
        </p:nvCxnSpPr>
        <p:spPr>
          <a:xfrm>
            <a:off x="2336791" y="5412282"/>
            <a:ext cx="934074" cy="74965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2" name="TextBox 531"/>
          <p:cNvSpPr txBox="1"/>
          <p:nvPr/>
        </p:nvSpPr>
        <p:spPr>
          <a:xfrm>
            <a:off x="2638886" y="5821558"/>
            <a:ext cx="367204" cy="139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Disable</a:t>
            </a:r>
            <a:endParaRPr lang="ko-KR" altLang="en-US" sz="400" b="1"/>
          </a:p>
        </p:txBody>
      </p:sp>
      <p:cxnSp>
        <p:nvCxnSpPr>
          <p:cNvPr id="534" name="직선 화살표 연결선 533"/>
          <p:cNvCxnSpPr>
            <a:stCxn id="316" idx="4"/>
            <a:endCxn id="366" idx="3"/>
          </p:cNvCxnSpPr>
          <p:nvPr/>
        </p:nvCxnSpPr>
        <p:spPr>
          <a:xfrm>
            <a:off x="2014627" y="5518862"/>
            <a:ext cx="1232593" cy="121331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직선 화살표 연결선 536"/>
          <p:cNvCxnSpPr>
            <a:stCxn id="316" idx="4"/>
            <a:endCxn id="366" idx="1"/>
          </p:cNvCxnSpPr>
          <p:nvPr/>
        </p:nvCxnSpPr>
        <p:spPr>
          <a:xfrm>
            <a:off x="2014627" y="5518862"/>
            <a:ext cx="1232593" cy="855692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2814571" y="6223544"/>
            <a:ext cx="267719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Off</a:t>
            </a:r>
            <a:endParaRPr lang="ko-KR" altLang="en-US" sz="400" b="1"/>
          </a:p>
        </p:txBody>
      </p:sp>
      <p:sp>
        <p:nvSpPr>
          <p:cNvPr id="551" name="TextBox 550"/>
          <p:cNvSpPr txBox="1"/>
          <p:nvPr/>
        </p:nvSpPr>
        <p:spPr>
          <a:xfrm>
            <a:off x="2651415" y="6437961"/>
            <a:ext cx="425116" cy="1419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/>
              <a:t>Power Up</a:t>
            </a:r>
            <a:endParaRPr lang="ko-KR" altLang="en-US" sz="400" b="1"/>
          </a:p>
        </p:txBody>
      </p:sp>
      <p:cxnSp>
        <p:nvCxnSpPr>
          <p:cNvPr id="2" name="Connector 3"/>
          <p:cNvCxnSpPr>
            <a:stCxn id="42" idx="0"/>
          </p:cNvCxnSpPr>
          <p:nvPr/>
        </p:nvCxnSpPr>
        <p:spPr>
          <a:xfrm flipH="1" flipV="1">
            <a:off x="9223314" y="862744"/>
            <a:ext cx="12929" cy="266171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4"/>
          <p:cNvCxnSpPr/>
          <p:nvPr/>
        </p:nvCxnSpPr>
        <p:spPr>
          <a:xfrm flipV="1">
            <a:off x="7899186" y="1687045"/>
            <a:ext cx="841693" cy="733907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5"/>
          <p:cNvCxnSpPr/>
          <p:nvPr/>
        </p:nvCxnSpPr>
        <p:spPr>
          <a:xfrm flipH="1" flipV="1">
            <a:off x="9789222" y="1768567"/>
            <a:ext cx="951731" cy="794088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6"/>
          <p:cNvCxnSpPr/>
          <p:nvPr/>
        </p:nvCxnSpPr>
        <p:spPr>
          <a:xfrm flipV="1">
            <a:off x="9270100" y="1649665"/>
            <a:ext cx="0" cy="601194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7"/>
          <p:cNvCxnSpPr/>
          <p:nvPr/>
        </p:nvCxnSpPr>
        <p:spPr>
          <a:xfrm flipV="1">
            <a:off x="9285340" y="2825321"/>
            <a:ext cx="0" cy="443659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8"/>
          <p:cNvCxnSpPr/>
          <p:nvPr/>
        </p:nvCxnSpPr>
        <p:spPr>
          <a:xfrm>
            <a:off x="7699990" y="3058966"/>
            <a:ext cx="930259" cy="561931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9"/>
          <p:cNvCxnSpPr/>
          <p:nvPr/>
        </p:nvCxnSpPr>
        <p:spPr>
          <a:xfrm flipH="1">
            <a:off x="10163540" y="3124200"/>
            <a:ext cx="877840" cy="563880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0"/>
          <p:cNvCxnSpPr/>
          <p:nvPr/>
        </p:nvCxnSpPr>
        <p:spPr>
          <a:xfrm flipH="1">
            <a:off x="7645735" y="1581147"/>
            <a:ext cx="912264" cy="828957"/>
          </a:xfrm>
          <a:prstGeom prst="line">
            <a:avLst/>
          </a:prstGeom>
          <a:ln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1"/>
          <p:cNvCxnSpPr/>
          <p:nvPr/>
        </p:nvCxnSpPr>
        <p:spPr>
          <a:xfrm>
            <a:off x="9895550" y="1646182"/>
            <a:ext cx="1278913" cy="904273"/>
          </a:xfrm>
          <a:prstGeom prst="line">
            <a:avLst/>
          </a:prstGeom>
          <a:ln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2"/>
          <p:cNvSpPr/>
          <p:nvPr/>
        </p:nvSpPr>
        <p:spPr>
          <a:xfrm>
            <a:off x="8176014" y="2050188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1</a:t>
            </a:r>
          </a:p>
        </p:txBody>
      </p:sp>
      <p:sp>
        <p:nvSpPr>
          <p:cNvPr id="27" name="Oval 13"/>
          <p:cNvSpPr/>
          <p:nvPr/>
        </p:nvSpPr>
        <p:spPr>
          <a:xfrm>
            <a:off x="10190100" y="2075984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2</a:t>
            </a:r>
          </a:p>
        </p:txBody>
      </p:sp>
      <p:sp>
        <p:nvSpPr>
          <p:cNvPr id="29" name="Oval 14"/>
          <p:cNvSpPr/>
          <p:nvPr/>
        </p:nvSpPr>
        <p:spPr>
          <a:xfrm>
            <a:off x="9196805" y="1831761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3</a:t>
            </a:r>
          </a:p>
        </p:txBody>
      </p:sp>
      <p:sp>
        <p:nvSpPr>
          <p:cNvPr id="33" name="Oval 15"/>
          <p:cNvSpPr/>
          <p:nvPr/>
        </p:nvSpPr>
        <p:spPr>
          <a:xfrm>
            <a:off x="9174704" y="2857413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4</a:t>
            </a:r>
          </a:p>
        </p:txBody>
      </p:sp>
      <p:sp>
        <p:nvSpPr>
          <p:cNvPr id="35" name="Oval 16"/>
          <p:cNvSpPr/>
          <p:nvPr/>
        </p:nvSpPr>
        <p:spPr>
          <a:xfrm>
            <a:off x="8117504" y="3325517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5</a:t>
            </a:r>
          </a:p>
        </p:txBody>
      </p:sp>
      <p:sp>
        <p:nvSpPr>
          <p:cNvPr id="37" name="Oval 17"/>
          <p:cNvSpPr/>
          <p:nvPr/>
        </p:nvSpPr>
        <p:spPr>
          <a:xfrm>
            <a:off x="10411867" y="3352098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6</a:t>
            </a:r>
          </a:p>
        </p:txBody>
      </p:sp>
      <p:sp>
        <p:nvSpPr>
          <p:cNvPr id="39" name="Oval 18"/>
          <p:cNvSpPr/>
          <p:nvPr/>
        </p:nvSpPr>
        <p:spPr>
          <a:xfrm>
            <a:off x="7971695" y="1974136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7</a:t>
            </a:r>
          </a:p>
        </p:txBody>
      </p:sp>
      <p:sp>
        <p:nvSpPr>
          <p:cNvPr id="40" name="Oval 19"/>
          <p:cNvSpPr/>
          <p:nvPr/>
        </p:nvSpPr>
        <p:spPr>
          <a:xfrm>
            <a:off x="10652762" y="2143875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8</a:t>
            </a:r>
          </a:p>
        </p:txBody>
      </p:sp>
      <p:sp>
        <p:nvSpPr>
          <p:cNvPr id="41" name="Oval 20"/>
          <p:cNvSpPr/>
          <p:nvPr/>
        </p:nvSpPr>
        <p:spPr>
          <a:xfrm>
            <a:off x="9137092" y="692242"/>
            <a:ext cx="147873" cy="146304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/>
          </a:bodyPr>
          <a:lstStyle/>
          <a:p>
            <a:pPr algn="ctr">
              <a:defRPr sz="100" b="1">
                <a:solidFill>
                  <a:srgbClr val="FFFFFF"/>
                </a:solidFill>
                <a:latin typeface="Aptos"/>
              </a:defRPr>
            </a:pPr>
            <a:endParaRPr/>
          </a:p>
        </p:txBody>
      </p:sp>
      <p:sp>
        <p:nvSpPr>
          <p:cNvPr id="42" name="Rounded Rectangle 21"/>
          <p:cNvSpPr/>
          <p:nvPr/>
        </p:nvSpPr>
        <p:spPr>
          <a:xfrm>
            <a:off x="8700106" y="1128915"/>
            <a:ext cx="1072273" cy="452232"/>
          </a:xfrm>
          <a:prstGeom prst="roundRect">
            <a:avLst>
              <a:gd name="adj" fmla="val 16667"/>
            </a:avLst>
          </a:prstGeom>
          <a:solidFill>
            <a:srgbClr val="156082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 lnSpcReduction="10000"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Move</a:t>
            </a:r>
            <a:br>
              <a:rPr lang="ko-KR" altLang="en-US"/>
            </a:br>
            <a:r>
              <a:rPr lang="ko-KR" altLang="en-US"/>
              <a:t>Forward</a:t>
            </a:r>
          </a:p>
        </p:txBody>
      </p:sp>
      <p:sp>
        <p:nvSpPr>
          <p:cNvPr id="43" name="Rounded Rectangle 22"/>
          <p:cNvSpPr/>
          <p:nvPr/>
        </p:nvSpPr>
        <p:spPr>
          <a:xfrm>
            <a:off x="6980486" y="2582663"/>
            <a:ext cx="1001221" cy="424821"/>
          </a:xfrm>
          <a:prstGeom prst="roundRect">
            <a:avLst>
              <a:gd name="adj" fmla="val 16667"/>
            </a:avLst>
          </a:prstGeom>
          <a:solidFill>
            <a:srgbClr val="156082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 lnSpcReduction="20000"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Turn</a:t>
            </a:r>
            <a:br>
              <a:rPr lang="ko-KR" altLang="en-US"/>
            </a:br>
            <a:r>
              <a:rPr lang="ko-KR" altLang="en-US"/>
              <a:t>Left</a:t>
            </a:r>
          </a:p>
        </p:txBody>
      </p:sp>
      <p:sp>
        <p:nvSpPr>
          <p:cNvPr id="47" name="Rounded Rectangle 23"/>
          <p:cNvSpPr/>
          <p:nvPr/>
        </p:nvSpPr>
        <p:spPr>
          <a:xfrm>
            <a:off x="10683956" y="2635041"/>
            <a:ext cx="1001221" cy="424821"/>
          </a:xfrm>
          <a:prstGeom prst="roundRect">
            <a:avLst>
              <a:gd name="adj" fmla="val 16667"/>
            </a:avLst>
          </a:prstGeom>
          <a:solidFill>
            <a:srgbClr val="156082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 lnSpcReduction="20000"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Turn</a:t>
            </a:r>
            <a:br>
              <a:rPr lang="ko-KR" altLang="en-US"/>
            </a:br>
            <a:r>
              <a:rPr lang="ko-KR" altLang="en-US"/>
              <a:t>Right</a:t>
            </a:r>
          </a:p>
        </p:txBody>
      </p:sp>
      <p:sp>
        <p:nvSpPr>
          <p:cNvPr id="48" name="Rounded Rectangle 24"/>
          <p:cNvSpPr/>
          <p:nvPr/>
        </p:nvSpPr>
        <p:spPr>
          <a:xfrm>
            <a:off x="8792570" y="2252493"/>
            <a:ext cx="904330" cy="424821"/>
          </a:xfrm>
          <a:prstGeom prst="roundRect">
            <a:avLst>
              <a:gd name="adj" fmla="val 16667"/>
            </a:avLst>
          </a:prstGeom>
          <a:solidFill>
            <a:srgbClr val="156082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Stop</a:t>
            </a:r>
          </a:p>
        </p:txBody>
      </p:sp>
      <p:sp>
        <p:nvSpPr>
          <p:cNvPr id="49" name="Rounded Rectangle 25"/>
          <p:cNvSpPr/>
          <p:nvPr/>
        </p:nvSpPr>
        <p:spPr>
          <a:xfrm>
            <a:off x="8694745" y="3325339"/>
            <a:ext cx="1388792" cy="452232"/>
          </a:xfrm>
          <a:prstGeom prst="roundRect">
            <a:avLst>
              <a:gd name="adj" fmla="val 16667"/>
            </a:avLst>
          </a:prstGeom>
          <a:solidFill>
            <a:srgbClr val="156082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 lnSpcReduction="10000"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Move</a:t>
            </a:r>
            <a:br>
              <a:rPr lang="ko-KR" altLang="en-US"/>
            </a:br>
            <a:r>
              <a:rPr lang="ko-KR" altLang="en-US"/>
              <a:t>Backward</a:t>
            </a:r>
          </a:p>
        </p:txBody>
      </p:sp>
      <p:sp>
        <p:nvSpPr>
          <p:cNvPr id="51" name="Oval 27"/>
          <p:cNvSpPr/>
          <p:nvPr/>
        </p:nvSpPr>
        <p:spPr>
          <a:xfrm>
            <a:off x="9316831" y="899919"/>
            <a:ext cx="180867" cy="191856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en-US"/>
              <a:t>0</a:t>
            </a:r>
            <a:endParaRPr/>
          </a:p>
        </p:txBody>
      </p:sp>
      <p:sp>
        <p:nvSpPr>
          <p:cNvPr id="52" name="Rounded Rectangle 17"/>
          <p:cNvSpPr/>
          <p:nvPr/>
        </p:nvSpPr>
        <p:spPr>
          <a:xfrm>
            <a:off x="11119724" y="1053927"/>
            <a:ext cx="1072276" cy="416386"/>
          </a:xfrm>
          <a:prstGeom prst="roundRect">
            <a:avLst>
              <a:gd name="adj" fmla="val 16667"/>
            </a:avLst>
          </a:prstGeom>
          <a:solidFill>
            <a:srgbClr val="156082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77500" lnSpcReduction="20000"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Power</a:t>
            </a:r>
            <a:br>
              <a:rPr/>
            </a:br>
            <a:r>
              <a:rPr lang="en-US"/>
              <a:t>Up</a:t>
            </a:r>
            <a:endParaRPr/>
          </a:p>
        </p:txBody>
      </p:sp>
      <p:cxnSp>
        <p:nvCxnSpPr>
          <p:cNvPr id="53" name="Connector 7"/>
          <p:cNvCxnSpPr/>
          <p:nvPr/>
        </p:nvCxnSpPr>
        <p:spPr>
          <a:xfrm>
            <a:off x="10954386" y="1178341"/>
            <a:ext cx="11509" cy="21248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27"/>
          <p:cNvSpPr/>
          <p:nvPr/>
        </p:nvSpPr>
        <p:spPr>
          <a:xfrm>
            <a:off x="10379988" y="1069238"/>
            <a:ext cx="180867" cy="191856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en-US"/>
              <a:t>9</a:t>
            </a:r>
            <a:endParaRPr/>
          </a:p>
        </p:txBody>
      </p:sp>
      <p:cxnSp>
        <p:nvCxnSpPr>
          <p:cNvPr id="61" name="Connector 7"/>
          <p:cNvCxnSpPr/>
          <p:nvPr/>
        </p:nvCxnSpPr>
        <p:spPr>
          <a:xfrm>
            <a:off x="9871710" y="1377340"/>
            <a:ext cx="1084866" cy="21248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Oval 27"/>
          <p:cNvSpPr/>
          <p:nvPr/>
        </p:nvSpPr>
        <p:spPr>
          <a:xfrm>
            <a:off x="10188645" y="1303894"/>
            <a:ext cx="463036" cy="269902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en-US"/>
              <a:t>10</a:t>
            </a:r>
            <a:endParaRPr/>
          </a:p>
        </p:txBody>
      </p:sp>
      <p:cxnSp>
        <p:nvCxnSpPr>
          <p:cNvPr id="449" name="Connector 6"/>
          <p:cNvCxnSpPr/>
          <p:nvPr/>
        </p:nvCxnSpPr>
        <p:spPr>
          <a:xfrm flipV="1">
            <a:off x="11502760" y="1581147"/>
            <a:ext cx="0" cy="958067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"/>
          <p:cNvCxnSpPr>
            <a:stCxn id="48" idx="3"/>
          </p:cNvCxnSpPr>
          <p:nvPr/>
        </p:nvCxnSpPr>
        <p:spPr>
          <a:xfrm flipV="1">
            <a:off x="9696900" y="1533339"/>
            <a:ext cx="1364756" cy="931565"/>
          </a:xfrm>
          <a:prstGeom prst="line">
            <a:avLst/>
          </a:prstGeom>
          <a:ln w="17780">
            <a:solidFill>
              <a:srgbClr val="0E465F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Oval 12"/>
          <p:cNvSpPr/>
          <p:nvPr/>
        </p:nvSpPr>
        <p:spPr>
          <a:xfrm>
            <a:off x="7328371" y="1687045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1</a:t>
            </a:r>
          </a:p>
        </p:txBody>
      </p:sp>
      <p:sp>
        <p:nvSpPr>
          <p:cNvPr id="457" name="Oval 13"/>
          <p:cNvSpPr/>
          <p:nvPr/>
        </p:nvSpPr>
        <p:spPr>
          <a:xfrm>
            <a:off x="11406893" y="2100210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2</a:t>
            </a:r>
          </a:p>
        </p:txBody>
      </p:sp>
      <p:sp>
        <p:nvSpPr>
          <p:cNvPr id="460" name="Oval 14"/>
          <p:cNvSpPr/>
          <p:nvPr/>
        </p:nvSpPr>
        <p:spPr>
          <a:xfrm>
            <a:off x="10485533" y="1743882"/>
            <a:ext cx="193789" cy="205562"/>
          </a:xfrm>
          <a:prstGeom prst="ellipse">
            <a:avLst/>
          </a:prstGeom>
          <a:solidFill>
            <a:srgbClr val="0E465F"/>
          </a:solidFill>
          <a:ln w="13970"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anchor="ctr">
            <a:normAutofit fontScale="92500"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3</a:t>
            </a:r>
          </a:p>
        </p:txBody>
      </p:sp>
      <p:cxnSp>
        <p:nvCxnSpPr>
          <p:cNvPr id="464" name="직선 화살표 연결선 463"/>
          <p:cNvCxnSpPr/>
          <p:nvPr/>
        </p:nvCxnSpPr>
        <p:spPr>
          <a:xfrm>
            <a:off x="7455408" y="618810"/>
            <a:ext cx="0" cy="1858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직선 연결선 466"/>
          <p:cNvCxnSpPr/>
          <p:nvPr/>
        </p:nvCxnSpPr>
        <p:spPr>
          <a:xfrm flipV="1">
            <a:off x="11598626" y="587673"/>
            <a:ext cx="0" cy="4081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직선 연결선 471"/>
          <p:cNvCxnSpPr/>
          <p:nvPr/>
        </p:nvCxnSpPr>
        <p:spPr>
          <a:xfrm flipH="1">
            <a:off x="7455408" y="587673"/>
            <a:ext cx="4143218" cy="311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직선 화살표 연결선 511"/>
          <p:cNvCxnSpPr/>
          <p:nvPr/>
        </p:nvCxnSpPr>
        <p:spPr>
          <a:xfrm>
            <a:off x="9855209" y="1183893"/>
            <a:ext cx="1143000" cy="34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/>
          <p:cNvSpPr txBox="1"/>
          <p:nvPr/>
        </p:nvSpPr>
        <p:spPr>
          <a:xfrm>
            <a:off x="7048500" y="3612695"/>
            <a:ext cx="5120640" cy="21597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Aptos"/>
              </a:defRPr>
            </a:pPr>
            <a:r>
              <a:t>Transition Summary</a:t>
            </a:r>
          </a:p>
        </p:txBody>
      </p:sp>
      <p:sp>
        <p:nvSpPr>
          <p:cNvPr id="288" name="Oval 27"/>
          <p:cNvSpPr/>
          <p:nvPr/>
        </p:nvSpPr>
        <p:spPr>
          <a:xfrm>
            <a:off x="7277100" y="4166764"/>
            <a:ext cx="140611" cy="162793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598664" y="4163053"/>
            <a:ext cx="4837176" cy="14186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839" b="0">
                <a:solidFill>
                  <a:srgbClr val="000000"/>
                </a:solidFill>
                <a:latin typeface="Aptos"/>
              </a:defRPr>
            </a:pPr>
            <a:r>
              <a:t> Tick [F &amp;&amp; !L] / Disable “Move Forward”, Cleaner </a:t>
            </a:r>
            <a:r>
              <a:rPr lang="en-US"/>
              <a:t>command(off)</a:t>
            </a:r>
            <a:r>
              <a:t>, Trigger “Turn Left”</a:t>
            </a:r>
          </a:p>
        </p:txBody>
      </p:sp>
      <p:sp>
        <p:nvSpPr>
          <p:cNvPr id="292" name="Oval 29"/>
          <p:cNvSpPr/>
          <p:nvPr/>
        </p:nvSpPr>
        <p:spPr>
          <a:xfrm>
            <a:off x="7260336" y="4415746"/>
            <a:ext cx="184404" cy="179114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2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7590652" y="4436329"/>
            <a:ext cx="4837176" cy="13529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839" b="0">
                <a:solidFill>
                  <a:srgbClr val="000000"/>
                </a:solidFill>
                <a:latin typeface="Aptos"/>
              </a:defRPr>
            </a:pPr>
            <a:r>
              <a:t> Tick [F &amp;&amp; L &amp;&amp; !R] / Disable “Move Forward”, Cleaner </a:t>
            </a:r>
            <a:r>
              <a:rPr lang="en-US"/>
              <a:t>command (off)</a:t>
            </a:r>
            <a:r>
              <a:t>, Trigger “Turn Right”</a:t>
            </a:r>
          </a:p>
        </p:txBody>
      </p:sp>
      <p:sp>
        <p:nvSpPr>
          <p:cNvPr id="299" name="Oval 31"/>
          <p:cNvSpPr/>
          <p:nvPr/>
        </p:nvSpPr>
        <p:spPr>
          <a:xfrm>
            <a:off x="7259254" y="4680922"/>
            <a:ext cx="184403" cy="180435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3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7583032" y="4721854"/>
            <a:ext cx="4837176" cy="13551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839" b="0">
                <a:solidFill>
                  <a:srgbClr val="000000"/>
                </a:solidFill>
                <a:latin typeface="Aptos"/>
              </a:defRPr>
            </a:pPr>
            <a:r>
              <a:t> Tick [F &amp;&amp; L &amp;&amp; R] / Disable “Move Forward”, </a:t>
            </a:r>
            <a:r>
              <a:rPr lang="en-US" altLang="ko-KR"/>
              <a:t>Cleaner command (off)</a:t>
            </a:r>
            <a:endParaRPr/>
          </a:p>
        </p:txBody>
      </p:sp>
      <p:sp>
        <p:nvSpPr>
          <p:cNvPr id="310" name="Oval 33"/>
          <p:cNvSpPr/>
          <p:nvPr/>
        </p:nvSpPr>
        <p:spPr>
          <a:xfrm>
            <a:off x="7287916" y="5015877"/>
            <a:ext cx="172947" cy="145880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4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613512" y="5011554"/>
            <a:ext cx="4837176" cy="14109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839" b="0">
                <a:solidFill>
                  <a:srgbClr val="000000"/>
                </a:solidFill>
                <a:latin typeface="Aptos"/>
              </a:defRPr>
            </a:pPr>
            <a:r>
              <a:rPr lang="en-US"/>
              <a:t> </a:t>
            </a:r>
            <a:r>
              <a:t>Tick / Enable “Move Backward”</a:t>
            </a:r>
          </a:p>
        </p:txBody>
      </p:sp>
      <p:sp>
        <p:nvSpPr>
          <p:cNvPr id="314" name="Oval 35"/>
          <p:cNvSpPr/>
          <p:nvPr/>
        </p:nvSpPr>
        <p:spPr>
          <a:xfrm>
            <a:off x="7286949" y="5280288"/>
            <a:ext cx="172212" cy="157566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5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7598272" y="5298923"/>
            <a:ext cx="4837176" cy="139471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839" b="0">
                <a:solidFill>
                  <a:srgbClr val="000000"/>
                </a:solidFill>
                <a:latin typeface="Aptos"/>
              </a:defRPr>
            </a:pPr>
            <a:r>
              <a:t> Tick [!L] / Disable “Move Backward”, Trigger “Turn Left”</a:t>
            </a:r>
          </a:p>
        </p:txBody>
      </p:sp>
      <p:sp>
        <p:nvSpPr>
          <p:cNvPr id="325" name="Oval 37"/>
          <p:cNvSpPr/>
          <p:nvPr/>
        </p:nvSpPr>
        <p:spPr>
          <a:xfrm>
            <a:off x="7270460" y="5524436"/>
            <a:ext cx="198328" cy="172407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6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7598664" y="5556125"/>
            <a:ext cx="4837176" cy="13944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839" b="0">
                <a:solidFill>
                  <a:srgbClr val="000000"/>
                </a:solidFill>
                <a:latin typeface="Aptos"/>
              </a:defRPr>
            </a:pPr>
            <a:r>
              <a:t> Tick [L &amp;&amp; !R] / Disable “Move Backward”, Trigger “Turn Right”</a:t>
            </a:r>
          </a:p>
        </p:txBody>
      </p:sp>
      <p:sp>
        <p:nvSpPr>
          <p:cNvPr id="329" name="Oval 39"/>
          <p:cNvSpPr/>
          <p:nvPr/>
        </p:nvSpPr>
        <p:spPr>
          <a:xfrm>
            <a:off x="7282114" y="5757803"/>
            <a:ext cx="186674" cy="170557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7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7606284" y="5772437"/>
            <a:ext cx="4837176" cy="132681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839" b="0">
                <a:solidFill>
                  <a:srgbClr val="000000"/>
                </a:solidFill>
                <a:latin typeface="Aptos"/>
              </a:defRPr>
            </a:pPr>
            <a:r>
              <a:t>Tick * 5 / Enable “Move Forward”, </a:t>
            </a:r>
            <a:r>
              <a:rPr lang="en-US" altLang="ko-KR"/>
              <a:t>Cleaner command (on)</a:t>
            </a:r>
            <a:endParaRPr/>
          </a:p>
        </p:txBody>
      </p:sp>
      <p:sp>
        <p:nvSpPr>
          <p:cNvPr id="334" name="Oval 41"/>
          <p:cNvSpPr/>
          <p:nvPr/>
        </p:nvSpPr>
        <p:spPr>
          <a:xfrm>
            <a:off x="7299960" y="6027420"/>
            <a:ext cx="168828" cy="208580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ko-KR" altLang="en-US"/>
              <a:t>8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7563612" y="6063337"/>
            <a:ext cx="4837176" cy="137057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defRPr sz="839" b="0">
                <a:solidFill>
                  <a:srgbClr val="000000"/>
                </a:solidFill>
                <a:latin typeface="Aptos"/>
              </a:defRPr>
            </a:pPr>
            <a:r>
              <a:t> Tick * 5 / Enable “Move Forward”,</a:t>
            </a:r>
            <a:r>
              <a:rPr lang="en-US"/>
              <a:t> </a:t>
            </a:r>
            <a:r>
              <a:rPr lang="en-US" altLang="ko-KR"/>
              <a:t>Cleaner command (on)</a:t>
            </a:r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7502651" y="3819034"/>
            <a:ext cx="4571993" cy="217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900"/>
              <a:t>/Enable “Move Forward”, Cleaner Command (On)</a:t>
            </a:r>
            <a:endParaRPr lang="ko-KR" altLang="en-US" sz="900"/>
          </a:p>
        </p:txBody>
      </p:sp>
      <p:sp>
        <p:nvSpPr>
          <p:cNvPr id="345" name="Oval 27"/>
          <p:cNvSpPr/>
          <p:nvPr/>
        </p:nvSpPr>
        <p:spPr>
          <a:xfrm>
            <a:off x="7231380" y="3822339"/>
            <a:ext cx="190500" cy="208641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en-US"/>
              <a:t>0</a:t>
            </a:r>
            <a:endParaRPr/>
          </a:p>
        </p:txBody>
      </p:sp>
      <p:sp>
        <p:nvSpPr>
          <p:cNvPr id="347" name="Oval 27"/>
          <p:cNvSpPr/>
          <p:nvPr/>
        </p:nvSpPr>
        <p:spPr>
          <a:xfrm>
            <a:off x="7298775" y="6300488"/>
            <a:ext cx="170014" cy="168892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en-US"/>
              <a:t>9</a:t>
            </a:r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7548372" y="6281506"/>
            <a:ext cx="23157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800"/>
              <a:t>Tick[D &amp;&amp; !F] / Cleaner command (power up)</a:t>
            </a:r>
            <a:endParaRPr lang="ko-KR" altLang="en-US" sz="800"/>
          </a:p>
        </p:txBody>
      </p:sp>
      <p:sp>
        <p:nvSpPr>
          <p:cNvPr id="351" name="Oval 27"/>
          <p:cNvSpPr/>
          <p:nvPr/>
        </p:nvSpPr>
        <p:spPr>
          <a:xfrm>
            <a:off x="7296576" y="6553365"/>
            <a:ext cx="235435" cy="252877"/>
          </a:xfrm>
          <a:prstGeom prst="ellipse">
            <a:avLst/>
          </a:prstGeom>
          <a:solidFill>
            <a:srgbClr val="156082"/>
          </a:solidFill>
          <a:ln>
            <a:solidFill>
              <a:srgbClr val="0E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en-US"/>
              <a:t>10</a:t>
            </a:r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7599315" y="6574525"/>
            <a:ext cx="171232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800"/>
              <a:t>Tick * 5 / Cleaner command (on)</a:t>
            </a:r>
            <a:endParaRPr lang="ko-KR" altLang="en-US" sz="80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F025F08E-4033-4644-C856-2AB739ECBCA1}"/>
              </a:ext>
            </a:extLst>
          </p:cNvPr>
          <p:cNvSpPr txBox="1"/>
          <p:nvPr/>
        </p:nvSpPr>
        <p:spPr>
          <a:xfrm>
            <a:off x="2872955" y="5441918"/>
            <a:ext cx="284575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00" b="1" dirty="0"/>
              <a:t>Tick</a:t>
            </a:r>
            <a:endParaRPr lang="ko-KR" altLang="en-US" sz="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655570" cy="4850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ptos"/>
              </a:defRPr>
            </a:pPr>
            <a:r>
              <a:rPr lang="ko-KR" altLang="en-US"/>
              <a:t>Data Dictionary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218118"/>
              </p:ext>
            </p:extLst>
          </p:nvPr>
        </p:nvGraphicFramePr>
        <p:xfrm>
          <a:off x="2029566" y="928370"/>
          <a:ext cx="8132868" cy="572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4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Input / Output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Format /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Front Sensor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Detects obstacles in front of the RVC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True / False, Interrupt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Left Sensor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Detects obstacles in the left side of the RVC periodically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True / False, Periodic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Right Sensor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Detects obstacles in the right side of the RVC periodically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True / False, Periodic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Dust Sensor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Detects dust on the floor periodically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True / False, Periodic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Direction commands to the motor (go forward / move backward / turn left with an angle / turn right with an angle)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Forward / Backward / Left / Right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Turn off / Turn on / Power-Up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 dirty="0" err="1"/>
                        <a:t>On</a:t>
                      </a:r>
                      <a:r>
                        <a:rPr lang="ko-KR" altLang="en-US" sz="1500" dirty="0"/>
                        <a:t> / </a:t>
                      </a:r>
                      <a:r>
                        <a:rPr lang="ko-KR" altLang="en-US" sz="1500" dirty="0" err="1"/>
                        <a:t>Off</a:t>
                      </a:r>
                      <a:r>
                        <a:rPr lang="ko-KR" altLang="en-US" sz="1500" dirty="0"/>
                        <a:t> / </a:t>
                      </a:r>
                      <a:r>
                        <a:rPr lang="en-US" altLang="ko-KR" sz="1500" dirty="0"/>
                        <a:t>Power-</a:t>
                      </a:r>
                      <a:r>
                        <a:rPr lang="ko-KR" altLang="en-US" sz="1500" dirty="0" err="1"/>
                        <a:t>Up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Tick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Periodic timing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Periodic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Obstacle &amp; Dust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 dirty="0" err="1"/>
                        <a:t>Information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about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the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detected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obstacle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location</a:t>
                      </a:r>
                      <a:r>
                        <a:rPr lang="ko-KR" altLang="en-US" sz="1500" dirty="0"/>
                        <a:t> and </a:t>
                      </a:r>
                      <a:r>
                        <a:rPr lang="ko-KR" altLang="en-US" sz="1500" dirty="0" err="1"/>
                        <a:t>dust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existence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 dirty="0"/>
                        <a:t>{</a:t>
                      </a:r>
                      <a:r>
                        <a:rPr lang="ko-KR" altLang="en-US" sz="1500" dirty="0" err="1"/>
                        <a:t>Obstacle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Location</a:t>
                      </a:r>
                      <a:r>
                        <a:rPr lang="ko-KR" altLang="en-US" sz="1500" dirty="0"/>
                        <a:t>, </a:t>
                      </a:r>
                      <a:r>
                        <a:rPr lang="ko-KR" altLang="en-US" sz="1500" dirty="0" err="1"/>
                        <a:t>Dust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Existence</a:t>
                      </a:r>
                      <a:r>
                        <a:rPr lang="ko-KR" altLang="en-US" sz="15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655570" cy="4850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ptos"/>
              </a:defRPr>
            </a:pPr>
            <a:r>
              <a:rPr lang="ko-KR" altLang="en-US" dirty="0"/>
              <a:t>Data </a:t>
            </a:r>
            <a:r>
              <a:rPr lang="ko-KR" altLang="en-US" dirty="0" err="1"/>
              <a:t>Dictionary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962586"/>
              </p:ext>
            </p:extLst>
          </p:nvPr>
        </p:nvGraphicFramePr>
        <p:xfrm>
          <a:off x="2029566" y="923290"/>
          <a:ext cx="8132868" cy="549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7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 dirty="0" err="1"/>
                        <a:t>Input</a:t>
                      </a:r>
                      <a:r>
                        <a:rPr lang="ko-KR" altLang="en-US" sz="1500" dirty="0"/>
                        <a:t> / </a:t>
                      </a:r>
                      <a:r>
                        <a:rPr lang="ko-KR" altLang="en-US" sz="1500" dirty="0" err="1"/>
                        <a:t>Output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Event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Format /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Front Obstacle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Indicates whether an obstacle exists in front of the RVC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True /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 dirty="0" err="1"/>
                        <a:t>Left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Obstacle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Indicates whether an obstacle exists on the left side of the RVC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True /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Right Obstacle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Indicates whether an obstacle exists on the right side of the RVC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True /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Dust Existence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Indicates whether dust is detected on the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True /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Motor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Command sent to control the movement of the RVC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 dirty="0" err="1"/>
                        <a:t>Forward</a:t>
                      </a:r>
                      <a:r>
                        <a:rPr lang="ko-KR" altLang="en-US" sz="1500" dirty="0"/>
                        <a:t> / </a:t>
                      </a:r>
                      <a:r>
                        <a:rPr lang="ko-KR" altLang="en-US" sz="1500" dirty="0" err="1"/>
                        <a:t>Backward</a:t>
                      </a:r>
                      <a:r>
                        <a:rPr lang="ko-KR" altLang="en-US" sz="1500" dirty="0"/>
                        <a:t> / </a:t>
                      </a:r>
                      <a:r>
                        <a:rPr lang="ko-KR" altLang="en-US" sz="1500" dirty="0" err="1"/>
                        <a:t>Left</a:t>
                      </a:r>
                      <a:r>
                        <a:rPr lang="ko-KR" altLang="en-US" sz="1500" dirty="0"/>
                        <a:t> / </a:t>
                      </a:r>
                      <a:r>
                        <a:rPr lang="ko-KR" altLang="en-US" sz="1500" dirty="0" err="1"/>
                        <a:t>Right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Cleaner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Command sent to control the cleaner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On / Off / Power-Up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Obstacle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Indicates the detected obstacle position around the RVC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/>
                        <a:t>{Front: Boolean, Left: Boolean, Right: Boolean}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 dirty="0" err="1"/>
                        <a:t>Trigger</a:t>
                      </a:r>
                      <a:endParaRPr lang="ko-KR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/>
                        <a:t>Initiates a turn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 dirty="0" err="1"/>
                        <a:t>Turn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Left</a:t>
                      </a:r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/>
                        <a:t>/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Turn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Right</a:t>
                      </a:r>
                      <a:endParaRPr lang="ko-KR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96F47-C68A-6F9D-29C2-4D1618816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B7413-6821-10AD-7BF0-AF43180B57EF}"/>
              </a:ext>
            </a:extLst>
          </p:cNvPr>
          <p:cNvSpPr txBox="1"/>
          <p:nvPr/>
        </p:nvSpPr>
        <p:spPr>
          <a:xfrm>
            <a:off x="502920" y="256032"/>
            <a:ext cx="496738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ptos"/>
              </a:defRPr>
            </a:pPr>
            <a:r>
              <a:rPr lang="en-US" altLang="ko-KR" dirty="0"/>
              <a:t>Process Specification (1.1 ~ 1.2)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B6E6851-7BA6-63DC-5759-751A041E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13563"/>
              </p:ext>
            </p:extLst>
          </p:nvPr>
        </p:nvGraphicFramePr>
        <p:xfrm>
          <a:off x="6096000" y="2691354"/>
          <a:ext cx="4946822" cy="22709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0811">
                  <a:extLst>
                    <a:ext uri="{9D8B030D-6E8A-4147-A177-3AD203B41FA5}">
                      <a16:colId xmlns:a16="http://schemas.microsoft.com/office/drawing/2014/main" val="91550214"/>
                    </a:ext>
                  </a:extLst>
                </a:gridCol>
                <a:gridCol w="3456011">
                  <a:extLst>
                    <a:ext uri="{9D8B030D-6E8A-4147-A177-3AD203B41FA5}">
                      <a16:colId xmlns:a16="http://schemas.microsoft.com/office/drawing/2014/main" val="1939924199"/>
                    </a:ext>
                  </a:extLst>
                </a:gridCol>
              </a:tblGrid>
              <a:tr h="317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Ref. No. 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1.2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216670226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Name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Left Sensor Interface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2762186999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Input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Left Sensor Input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540175290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Output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Left Obstacle (Boolean)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2216662064"/>
                  </a:ext>
                </a:extLst>
              </a:tr>
              <a:tr h="892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Process Description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Reads an analog value of the left sensor periodically. Converts it into a digital value such as True/False, and assigns it into output variable “Left Obstacle”</a:t>
                      </a:r>
                      <a:endParaRPr lang="ko-KR" altLang="en-US" sz="1200" dirty="0"/>
                    </a:p>
                    <a:p>
                      <a:pPr latinLnBrk="1"/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27626784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864A141-A42B-EB24-B798-840D69D43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097176"/>
              </p:ext>
            </p:extLst>
          </p:nvPr>
        </p:nvGraphicFramePr>
        <p:xfrm>
          <a:off x="502920" y="2691354"/>
          <a:ext cx="4946822" cy="2163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0811">
                  <a:extLst>
                    <a:ext uri="{9D8B030D-6E8A-4147-A177-3AD203B41FA5}">
                      <a16:colId xmlns:a16="http://schemas.microsoft.com/office/drawing/2014/main" val="91550214"/>
                    </a:ext>
                  </a:extLst>
                </a:gridCol>
                <a:gridCol w="3456011">
                  <a:extLst>
                    <a:ext uri="{9D8B030D-6E8A-4147-A177-3AD203B41FA5}">
                      <a16:colId xmlns:a16="http://schemas.microsoft.com/office/drawing/2014/main" val="1939924199"/>
                    </a:ext>
                  </a:extLst>
                </a:gridCol>
              </a:tblGrid>
              <a:tr h="317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Ref. No. 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1.1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216670226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Name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Front Sensor Interface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2762186999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Input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Front Sensor Input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540175290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Output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Front Obstacle (Boolean) 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2216662064"/>
                  </a:ext>
                </a:extLst>
              </a:tr>
              <a:tr h="892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Process Description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Reads an analog value of the front sensor. Converts it into a digital value such as True/False, and assigns it into output variable “Front Obstacle”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276267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88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524637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ptos"/>
              </a:defRPr>
            </a:pPr>
            <a:r>
              <a:rPr lang="en-US" altLang="ko-KR"/>
              <a:t>Process Specification (1.3 ~ 1.6)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389789" y="1639794"/>
          <a:ext cx="4946822" cy="2163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0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Ref. No. 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1.4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Name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Dust Sensor Interface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Input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Dust Sensor Input + Tick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Output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Dust Existence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872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Process Description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ko-KR" sz="1200"/>
                        <a:t>The "Dust Sensor Interface" process reads the raw signal from the Dust Sensor on every Tick and converts it into a Dust Existence flag, which is sent to process 1.6.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389788" y="4226240"/>
          <a:ext cx="4946823" cy="21634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0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80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Ref. No. 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1.6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80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Name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Determine Dust Existence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80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Input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Dust Existence(from 1.4)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80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Output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Dust Existence(to 2.1.1)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733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Process Description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ko-KR" sz="1200"/>
                        <a:t>The "Determine Dust Existence" process receives the Dust Existence flag from 1.4 and forwards it to the Controller (2.1.1) so it can be used as a condition for entering the Power-Up state.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855390" y="1639794"/>
          <a:ext cx="4946822" cy="22709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0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Ref. No. 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1.3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Name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Right Sensor Interface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Input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Right Sensor Input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Output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Right Obstacle (Boolean)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872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Process Description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/>
                        <a:t>Reads an analog value of the right sensor periodically. Converts it into a digital value such as True/False, and assigns it into output variable “Right Obstacle”</a:t>
                      </a:r>
                    </a:p>
                    <a:p>
                      <a:pPr latinLnBrk="1">
                        <a:defRPr/>
                      </a:pP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55389" y="4226242"/>
          <a:ext cx="4946822" cy="2297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0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Ref. No. 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1.5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Name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Determine Obstacle Location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Input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Front Obstacle, Left Obstacle, Right Obstacle (Boolean)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65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Output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Obstacle Location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872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Process Description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Reads a digital value of front, left, right sensors, converts it into Obstacle Location 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79A1DA6-C794-5BB0-0132-1FDB67BAE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68586"/>
              </p:ext>
            </p:extLst>
          </p:nvPr>
        </p:nvGraphicFramePr>
        <p:xfrm>
          <a:off x="1828800" y="1756338"/>
          <a:ext cx="7961811" cy="3886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6537">
                  <a:extLst>
                    <a:ext uri="{9D8B030D-6E8A-4147-A177-3AD203B41FA5}">
                      <a16:colId xmlns:a16="http://schemas.microsoft.com/office/drawing/2014/main" val="91550214"/>
                    </a:ext>
                  </a:extLst>
                </a:gridCol>
                <a:gridCol w="6365274">
                  <a:extLst>
                    <a:ext uri="{9D8B030D-6E8A-4147-A177-3AD203B41FA5}">
                      <a16:colId xmlns:a16="http://schemas.microsoft.com/office/drawing/2014/main" val="1939924199"/>
                    </a:ext>
                  </a:extLst>
                </a:gridCol>
              </a:tblGrid>
              <a:tr h="3299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Ref. No. 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2.1.1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216670226"/>
                  </a:ext>
                </a:extLst>
              </a:tr>
              <a:tr h="3299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Name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200"/>
                        <a:t>Controller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2762186999"/>
                  </a:ext>
                </a:extLst>
              </a:tr>
              <a:tr h="5171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Input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200"/>
                        <a:t>Obstacle Location [F/L/R] (from 1.5), Dust Existence (from 1.6), Tick (from Digital Clock)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540175290"/>
                  </a:ext>
                </a:extLst>
              </a:tr>
              <a:tr h="5171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Output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200" dirty="0" err="1"/>
                        <a:t>Enable</a:t>
                      </a:r>
                      <a:r>
                        <a:rPr lang="ko-KR" altLang="ko-KR" sz="1200" dirty="0"/>
                        <a:t>/</a:t>
                      </a:r>
                      <a:r>
                        <a:rPr lang="ko-KR" altLang="ko-KR" sz="1200" dirty="0" err="1"/>
                        <a:t>Disable</a:t>
                      </a:r>
                      <a:r>
                        <a:rPr lang="ko-KR" altLang="ko-KR" sz="1200" dirty="0"/>
                        <a:t> (</a:t>
                      </a:r>
                      <a:r>
                        <a:rPr lang="ko-KR" altLang="ko-KR" sz="1200" dirty="0" err="1"/>
                        <a:t>to</a:t>
                      </a:r>
                      <a:r>
                        <a:rPr lang="ko-KR" altLang="ko-KR" sz="1200" dirty="0"/>
                        <a:t> 2.1.2, 2.1.5), </a:t>
                      </a:r>
                      <a:r>
                        <a:rPr lang="ko-KR" altLang="ko-KR" sz="1200" dirty="0" err="1"/>
                        <a:t>Trigger</a:t>
                      </a:r>
                      <a:r>
                        <a:rPr lang="ko-KR" altLang="ko-KR" sz="1200" dirty="0"/>
                        <a:t> (</a:t>
                      </a:r>
                      <a:r>
                        <a:rPr lang="ko-KR" altLang="ko-KR" sz="1200" dirty="0" err="1"/>
                        <a:t>to</a:t>
                      </a:r>
                      <a:r>
                        <a:rPr lang="ko-KR" altLang="ko-KR" sz="1200" dirty="0"/>
                        <a:t> 2.1.3, 2.1.4</a:t>
                      </a:r>
                      <a:r>
                        <a:rPr lang="ko-KR" altLang="ko-KR" sz="1200"/>
                        <a:t>), [</a:t>
                      </a:r>
                      <a:r>
                        <a:rPr lang="ko-KR" altLang="ko-KR" sz="1200" dirty="0" err="1"/>
                        <a:t>Off</a:t>
                      </a:r>
                      <a:r>
                        <a:rPr lang="ko-KR" altLang="ko-KR" sz="1200" dirty="0"/>
                        <a:t>/</a:t>
                      </a:r>
                      <a:r>
                        <a:rPr lang="ko-KR" altLang="ko-KR" sz="1200" dirty="0" err="1"/>
                        <a:t>On</a:t>
                      </a:r>
                      <a:r>
                        <a:rPr lang="ko-KR" altLang="ko-KR" sz="1200" dirty="0"/>
                        <a:t>/Power-</a:t>
                      </a:r>
                      <a:r>
                        <a:rPr lang="ko-KR" altLang="ko-KR" sz="1200" dirty="0" err="1"/>
                        <a:t>Up</a:t>
                      </a:r>
                      <a:r>
                        <a:rPr lang="ko-KR" altLang="ko-KR" sz="1200" dirty="0"/>
                        <a:t>] (</a:t>
                      </a:r>
                      <a:r>
                        <a:rPr lang="ko-KR" altLang="ko-KR" sz="1200" dirty="0" err="1"/>
                        <a:t>to</a:t>
                      </a:r>
                      <a:r>
                        <a:rPr lang="ko-KR" altLang="ko-KR" sz="1200" dirty="0"/>
                        <a:t> 2.1.6)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2216662064"/>
                  </a:ext>
                </a:extLst>
              </a:tr>
              <a:tr h="21925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Process Description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200" dirty="0"/>
                        <a:t>The "</a:t>
                      </a:r>
                      <a:r>
                        <a:rPr lang="ko-KR" altLang="ko-KR" sz="1200" dirty="0" err="1"/>
                        <a:t>Controller</a:t>
                      </a:r>
                      <a:r>
                        <a:rPr lang="ko-KR" altLang="ko-KR" sz="1200" dirty="0"/>
                        <a:t>" </a:t>
                      </a:r>
                      <a:r>
                        <a:rPr lang="ko-KR" altLang="ko-KR" sz="1200" dirty="0" err="1"/>
                        <a:t>process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implements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the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RVC's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finite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state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machine</a:t>
                      </a:r>
                      <a:r>
                        <a:rPr lang="ko-KR" altLang="ko-KR" sz="1200" dirty="0"/>
                        <a:t>. </a:t>
                      </a:r>
                      <a:r>
                        <a:rPr lang="ko-KR" altLang="ko-KR" sz="1200" dirty="0" err="1"/>
                        <a:t>On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every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Tick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it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evaluates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the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current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state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together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with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Obstacle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Location</a:t>
                      </a:r>
                      <a:r>
                        <a:rPr lang="ko-KR" altLang="ko-KR" sz="1200" dirty="0"/>
                        <a:t> (</a:t>
                      </a:r>
                      <a:r>
                        <a:rPr lang="ko-KR" altLang="ko-KR" sz="1200" dirty="0" err="1"/>
                        <a:t>F</a:t>
                      </a:r>
                      <a:r>
                        <a:rPr lang="ko-KR" altLang="ko-KR" sz="1200" dirty="0"/>
                        <a:t>/</a:t>
                      </a:r>
                      <a:r>
                        <a:rPr lang="ko-KR" altLang="ko-KR" sz="1200" dirty="0" err="1"/>
                        <a:t>L</a:t>
                      </a:r>
                      <a:r>
                        <a:rPr lang="ko-KR" altLang="ko-KR" sz="1200" dirty="0"/>
                        <a:t>/</a:t>
                      </a:r>
                      <a:r>
                        <a:rPr lang="ko-KR" altLang="ko-KR" sz="1200" dirty="0" err="1"/>
                        <a:t>R</a:t>
                      </a:r>
                      <a:r>
                        <a:rPr lang="ko-KR" altLang="ko-KR" sz="1200" dirty="0"/>
                        <a:t>) and </a:t>
                      </a:r>
                      <a:r>
                        <a:rPr lang="ko-KR" altLang="ko-KR" sz="1200" dirty="0" err="1"/>
                        <a:t>Dust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Existence</a:t>
                      </a:r>
                      <a:r>
                        <a:rPr lang="ko-KR" altLang="ko-KR" sz="1200" dirty="0"/>
                        <a:t>, and </a:t>
                      </a:r>
                      <a:r>
                        <a:rPr lang="ko-KR" altLang="ko-KR" sz="1200" dirty="0" err="1"/>
                        <a:t>determines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whether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to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stay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in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the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current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state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or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transition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to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the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next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one</a:t>
                      </a:r>
                      <a:r>
                        <a:rPr lang="ko-KR" altLang="ko-KR" sz="1200" dirty="0"/>
                        <a:t> (</a:t>
                      </a:r>
                      <a:r>
                        <a:rPr lang="ko-KR" altLang="ko-KR" sz="1200" dirty="0" err="1"/>
                        <a:t>Move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Forward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Turn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Left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Turn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Right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Stop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Move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Backward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or</a:t>
                      </a:r>
                      <a:r>
                        <a:rPr lang="ko-KR" altLang="ko-KR" sz="1200" dirty="0"/>
                        <a:t> Power </a:t>
                      </a:r>
                      <a:r>
                        <a:rPr lang="ko-KR" altLang="ko-KR" sz="1200" dirty="0" err="1"/>
                        <a:t>Up</a:t>
                      </a:r>
                      <a:r>
                        <a:rPr lang="ko-KR" altLang="ko-KR" sz="1200" dirty="0"/>
                        <a:t>). </a:t>
                      </a:r>
                      <a:r>
                        <a:rPr lang="ko-KR" altLang="ko-KR" sz="1200" dirty="0" err="1"/>
                        <a:t>Based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on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the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resulting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state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it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sends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Enable</a:t>
                      </a:r>
                      <a:r>
                        <a:rPr lang="ko-KR" altLang="ko-KR" sz="1200" dirty="0"/>
                        <a:t>/</a:t>
                      </a:r>
                      <a:r>
                        <a:rPr lang="ko-KR" altLang="ko-KR" sz="1200" dirty="0" err="1"/>
                        <a:t>Disable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signals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to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activate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or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deactivate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Move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Forward</a:t>
                      </a:r>
                      <a:r>
                        <a:rPr lang="ko-KR" altLang="ko-KR" sz="1200" dirty="0"/>
                        <a:t> and </a:t>
                      </a:r>
                      <a:r>
                        <a:rPr lang="ko-KR" altLang="ko-KR" sz="1200" dirty="0" err="1"/>
                        <a:t>Move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Backward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sends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a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Trigger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to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start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Turn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Left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or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Turn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Right</a:t>
                      </a:r>
                      <a:r>
                        <a:rPr lang="ko-KR" altLang="ko-KR" sz="1200" dirty="0"/>
                        <a:t>, and </a:t>
                      </a:r>
                      <a:r>
                        <a:rPr lang="ko-KR" altLang="ko-KR" sz="1200" dirty="0" err="1"/>
                        <a:t>sends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the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corresponding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Cleaner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Command</a:t>
                      </a:r>
                      <a:r>
                        <a:rPr lang="ko-KR" altLang="ko-KR" sz="1200" dirty="0"/>
                        <a:t> (</a:t>
                      </a:r>
                      <a:r>
                        <a:rPr lang="ko-KR" altLang="ko-KR" sz="1200" dirty="0" err="1"/>
                        <a:t>Off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On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or</a:t>
                      </a:r>
                      <a:r>
                        <a:rPr lang="ko-KR" altLang="ko-KR" sz="1200" dirty="0"/>
                        <a:t> Power-</a:t>
                      </a:r>
                      <a:r>
                        <a:rPr lang="ko-KR" altLang="ko-KR" sz="1200" dirty="0" err="1"/>
                        <a:t>Up</a:t>
                      </a:r>
                      <a:r>
                        <a:rPr lang="ko-KR" altLang="ko-KR" sz="1200" dirty="0"/>
                        <a:t>) </a:t>
                      </a:r>
                      <a:r>
                        <a:rPr lang="ko-KR" altLang="ko-KR" sz="1200" dirty="0" err="1"/>
                        <a:t>to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the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Cleaner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Controller</a:t>
                      </a:r>
                      <a:r>
                        <a:rPr lang="ko-KR" altLang="ko-KR" sz="1200" dirty="0"/>
                        <a:t>. The </a:t>
                      </a:r>
                      <a:r>
                        <a:rPr lang="ko-KR" altLang="ko-KR" sz="1200" dirty="0" err="1"/>
                        <a:t>full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transition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logic</a:t>
                      </a:r>
                      <a:r>
                        <a:rPr lang="ko-KR" altLang="ko-KR" sz="1200" dirty="0"/>
                        <a:t> (</a:t>
                      </a:r>
                      <a:r>
                        <a:rPr lang="ko-KR" altLang="ko-KR" sz="1200" dirty="0" err="1"/>
                        <a:t>states</a:t>
                      </a:r>
                      <a:r>
                        <a:rPr lang="ko-KR" altLang="ko-KR" sz="1200" dirty="0"/>
                        <a:t>, </a:t>
                      </a:r>
                      <a:r>
                        <a:rPr lang="ko-KR" altLang="ko-KR" sz="1200" dirty="0" err="1"/>
                        <a:t>guard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conditions</a:t>
                      </a:r>
                      <a:r>
                        <a:rPr lang="ko-KR" altLang="ko-KR" sz="1200" dirty="0"/>
                        <a:t>, and </a:t>
                      </a:r>
                      <a:r>
                        <a:rPr lang="ko-KR" altLang="ko-KR" sz="1200" dirty="0" err="1"/>
                        <a:t>actions</a:t>
                      </a:r>
                      <a:r>
                        <a:rPr lang="ko-KR" altLang="ko-KR" sz="1200" dirty="0"/>
                        <a:t>) </a:t>
                      </a:r>
                      <a:r>
                        <a:rPr lang="ko-KR" altLang="ko-KR" sz="1200" dirty="0" err="1"/>
                        <a:t>is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specified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in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the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attached</a:t>
                      </a:r>
                      <a:r>
                        <a:rPr lang="ko-KR" altLang="ko-KR" sz="1200" dirty="0"/>
                        <a:t> FSM </a:t>
                      </a:r>
                      <a:r>
                        <a:rPr lang="ko-KR" altLang="ko-KR" sz="1200" dirty="0" err="1"/>
                        <a:t>diagram</a:t>
                      </a:r>
                      <a:r>
                        <a:rPr lang="ko-KR" altLang="ko-KR" sz="1200" dirty="0"/>
                        <a:t> and </a:t>
                      </a:r>
                      <a:r>
                        <a:rPr lang="ko-KR" altLang="ko-KR" sz="1200" dirty="0" err="1"/>
                        <a:t>transition</a:t>
                      </a:r>
                      <a:r>
                        <a:rPr lang="ko-KR" altLang="ko-KR" sz="1200" dirty="0"/>
                        <a:t> </a:t>
                      </a:r>
                      <a:r>
                        <a:rPr lang="ko-KR" altLang="ko-KR" sz="1200" dirty="0" err="1"/>
                        <a:t>table</a:t>
                      </a:r>
                      <a:r>
                        <a:rPr lang="ko-KR" altLang="ko-KR" sz="1200" dirty="0"/>
                        <a:t>.</a:t>
                      </a:r>
                      <a:endParaRPr lang="ko-KR" altLang="en-US" sz="1200" dirty="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2762678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0D46B2A-5B2A-8BE7-10E9-01C6EFF23CF6}"/>
              </a:ext>
            </a:extLst>
          </p:cNvPr>
          <p:cNvSpPr txBox="1"/>
          <p:nvPr/>
        </p:nvSpPr>
        <p:spPr>
          <a:xfrm>
            <a:off x="502920" y="256032"/>
            <a:ext cx="447686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ptos"/>
              </a:defRPr>
            </a:pPr>
            <a:r>
              <a:rPr lang="en-US" altLang="ko-KR" dirty="0"/>
              <a:t>Process Specification (2.1.1)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8475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5899614" y="4130581"/>
          <a:ext cx="5249371" cy="2306320"/>
        </p:xfrm>
        <a:graphic>
          <a:graphicData uri="http://schemas.openxmlformats.org/drawingml/2006/table">
            <a:tbl>
              <a:tblPr firstRow="1" bandRow="1"/>
              <a:tblGrid>
                <a:gridCol w="904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5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Ref</a:t>
                      </a:r>
                      <a:r>
                        <a:rPr lang="en-US" altLang="ko-KR" sz="1200"/>
                        <a:t>.</a:t>
                      </a:r>
                      <a:r>
                        <a:rPr lang="ko-KR" altLang="en-US" sz="1200"/>
                        <a:t> No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/>
                        <a:t>2.1.4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Turn Right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Trigger</a:t>
                      </a:r>
                      <a:r>
                        <a:rPr lang="en-US" altLang="ko-KR" sz="1200"/>
                        <a:t>,</a:t>
                      </a:r>
                      <a:r>
                        <a:rPr lang="ko-KR" altLang="en-US" sz="1200"/>
                        <a:t> Tick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Motor 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Process</a:t>
                      </a:r>
                    </a:p>
                    <a:p>
                      <a:pPr>
                        <a:defRPr/>
                      </a:pPr>
                      <a:r>
                        <a:rPr lang="ko-KR" altLang="en-US" sz="12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200"/>
                        <a:t>The “Turn Right” process receives a Trigger from the Controller and sends a Motor Command to the Motor Interface to turn the RVC to the right, counting five Ticks after being triggered before stopping on its own.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256032"/>
            <a:ext cx="580834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ptos"/>
              </a:defRPr>
            </a:pPr>
            <a:r>
              <a:rPr lang="en-US" altLang="ko-KR"/>
              <a:t>Process Specification (2.1.2 ~ 2.1.4)</a:t>
            </a:r>
            <a:endParaRPr lang="ko-KR" alt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2784123" y="1442831"/>
          <a:ext cx="5241370" cy="23357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9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Ref. No. 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2.1.2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Name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Move Forward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Input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Enable, Disable(from 2.1.1)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Output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Motor Command(to 2.2)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235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Process Description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ko-KR" sz="1200"/>
                        <a:t>The "Move Forward" process receives an Enable from the Controller and sends a Motor Command to the Motor Interface to move the RVC straight forward, and stops sending the command when it receives a Disable from the Controller.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502920" y="4130581"/>
          <a:ext cx="4983480" cy="21419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1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1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421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Ref. No. 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2.1.3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421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Name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Turn Left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421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Input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Trigger, Tick (from 2.1.1)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421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Output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Motor Command(to 2.2)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1757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Process Description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ko-KR" sz="1200"/>
                        <a:t>The "Turn Left" process receives a Trigger from the Controller and sends a Motor Command to the Motor Interface to turn the RVC to the left, counting five Ticks after being triggered before stopping on its own.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15415" y="3782350"/>
          <a:ext cx="4917638" cy="2441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2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5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78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Ref. No. 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2.2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78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Name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Motor Interface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8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Input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Motor Command(from 2.1.2, 2.1.3, 2.1.4,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2.1.5)</a:t>
                      </a:r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786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Output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Direction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2783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/>
                        <a:t>Process Description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ko-KR" sz="1200"/>
                        <a:t>The "Motor Interface" process receives a Motor Command from whichever motor-action process is currently active (Move Forward, Turn Left, Turn Right, or Move Backward), converts it into a Direction signal in the format the physical Motor expects, and sends it to the Motor.</a:t>
                      </a:r>
                      <a:endParaRPr lang="ko-KR" altLang="en-US" sz="1200"/>
                    </a:p>
                  </a:txBody>
                  <a:tcPr marL="85878" marR="85878" marT="42939" marB="42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036743" y="3782351"/>
          <a:ext cx="5217831" cy="2441070"/>
        </p:xfrm>
        <a:graphic>
          <a:graphicData uri="http://schemas.openxmlformats.org/drawingml/2006/table">
            <a:tbl>
              <a:tblPr firstRow="1" bandRow="1"/>
              <a:tblGrid>
                <a:gridCol w="87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0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54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Ref</a:t>
                      </a:r>
                      <a:r>
                        <a:rPr lang="en-US" altLang="ko-KR" sz="1200"/>
                        <a:t>.</a:t>
                      </a:r>
                      <a:r>
                        <a:rPr lang="ko-KR" altLang="en-US" sz="1200"/>
                        <a:t> No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/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Cleaner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Cleaner 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54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Clean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87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Process</a:t>
                      </a:r>
                    </a:p>
                    <a:p>
                      <a:pPr>
                        <a:defRPr/>
                      </a:pPr>
                      <a:r>
                        <a:rPr lang="ko-KR" altLang="en-US" sz="12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200"/>
                        <a:t>The “Cleaner Interface” process receives a Cleaner Command (On, Off, or Power-Up) and operates the cleaner according to the command.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036743" y="1376022"/>
          <a:ext cx="5169710" cy="2059532"/>
        </p:xfrm>
        <a:graphic>
          <a:graphicData uri="http://schemas.openxmlformats.org/drawingml/2006/table">
            <a:tbl>
              <a:tblPr firstRow="1" bandRow="1"/>
              <a:tblGrid>
                <a:gridCol w="87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8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Ref</a:t>
                      </a:r>
                      <a:r>
                        <a:rPr lang="en-US" altLang="ko-KR" sz="1200"/>
                        <a:t>.</a:t>
                      </a:r>
                      <a:r>
                        <a:rPr lang="ko-KR" altLang="en-US" sz="1200"/>
                        <a:t> No</a:t>
                      </a:r>
                      <a:r>
                        <a:rPr lang="en-US" altLang="ko-KR" sz="1200"/>
                        <a:t>.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/>
                        <a:t>2.1.6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Cleaner Controller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sz="1200"/>
                        <a:t>Off/On/Power-Up</a:t>
                      </a:r>
                      <a:r>
                        <a:rPr lang="en-US" altLang="ko-KR" sz="1200"/>
                        <a:t> </a:t>
                      </a:r>
                      <a:r>
                        <a:rPr lang="ko-KR" altLang="ko-KR" sz="1200"/>
                        <a:t>(from 2.1.1)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Cleaner 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2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Process</a:t>
                      </a:r>
                    </a:p>
                    <a:p>
                      <a:pPr>
                        <a:defRPr/>
                      </a:pPr>
                      <a:r>
                        <a:rPr lang="ko-KR" altLang="en-US" sz="12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200"/>
                        <a:t>The “Cleaner Controller” process receives an On, Off, or Power-Up control signal from the Controller and sends the corresponding Cleaner Command to the Cleaner Interface.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415415" y="1376023"/>
          <a:ext cx="4918348" cy="2059532"/>
        </p:xfrm>
        <a:graphic>
          <a:graphicData uri="http://schemas.openxmlformats.org/drawingml/2006/table">
            <a:tbl>
              <a:tblPr firstRow="1" bandRow="1"/>
              <a:tblGrid>
                <a:gridCol w="83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8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8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Ref</a:t>
                      </a:r>
                      <a:r>
                        <a:rPr lang="en-US" altLang="ko-KR" sz="1200"/>
                        <a:t>.</a:t>
                      </a:r>
                      <a:r>
                        <a:rPr lang="ko-KR" altLang="en-US" sz="1200"/>
                        <a:t> No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/>
                        <a:t>2.1.5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Move Backward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sz="1200"/>
                        <a:t>Enable, Disable (from 2.1.1)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Motor 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2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200"/>
                        <a:t>Process</a:t>
                      </a:r>
                    </a:p>
                    <a:p>
                      <a:pPr>
                        <a:defRPr/>
                      </a:pPr>
                      <a:r>
                        <a:rPr lang="ko-KR" altLang="en-US" sz="12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sz="1200"/>
                        <a:t>The “Move Backward” process receives an Enable/Disable signal from the Controller and sends a Motor Command to the Motor Interface to move the RVC backward.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256032"/>
            <a:ext cx="552259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ptos"/>
              </a:defRPr>
            </a:pPr>
            <a:r>
              <a:rPr lang="en-US" altLang="ko-KR"/>
              <a:t>Process Specification (2.1.5 ~ 2.3)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1721</Words>
  <Application>Microsoft Office PowerPoint</Application>
  <PresentationFormat>와이드스크린</PresentationFormat>
  <Paragraphs>389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Aptos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영찬 함</dc:creator>
  <cp:lastModifiedBy>함영찬</cp:lastModifiedBy>
  <cp:revision>25</cp:revision>
  <dcterms:created xsi:type="dcterms:W3CDTF">2026-09-13T04:08:05Z</dcterms:created>
  <dcterms:modified xsi:type="dcterms:W3CDTF">2026-09-15T11:41:11Z</dcterms:modified>
  <cp:version>1000.0000.01</cp:version>
</cp:coreProperties>
</file>